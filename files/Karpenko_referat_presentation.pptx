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89" r:id="rId4"/>
    <p:sldId id="290" r:id="rId5"/>
    <p:sldId id="291" r:id="rId6"/>
    <p:sldId id="293" r:id="rId7"/>
    <p:sldId id="303" r:id="rId8"/>
    <p:sldId id="304" r:id="rId9"/>
    <p:sldId id="305" r:id="rId10"/>
    <p:sldId id="306" r:id="rId11"/>
    <p:sldId id="307" r:id="rId12"/>
    <p:sldId id="308" r:id="rId13"/>
    <p:sldId id="294" r:id="rId14"/>
    <p:sldId id="295" r:id="rId15"/>
    <p:sldId id="296" r:id="rId16"/>
    <p:sldId id="297" r:id="rId17"/>
    <p:sldId id="298" r:id="rId18"/>
    <p:sldId id="309" r:id="rId19"/>
    <p:sldId id="302" r:id="rId20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FE4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125E5076-3810-47DD-B79F-674D7AD40C01}" styleName="深色样式 1 - 强调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83" d="100"/>
          <a:sy n="83" d="100"/>
        </p:scale>
        <p:origin x="45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098574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549164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959655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 слайд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4E9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001307" y="2877025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Arial" panose="020B0604020202020204"/>
              <a:buNone/>
              <a:defRPr sz="600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001307" y="5356700"/>
            <a:ext cx="9144000" cy="1060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477794" y="0"/>
            <a:ext cx="45719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16" name="Google Shape;16;p2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01307" y="622637"/>
            <a:ext cx="3359616" cy="8552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объект">
  <p:cSld name="Заголовок и объект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/>
          <p:nvPr/>
        </p:nvSpPr>
        <p:spPr>
          <a:xfrm>
            <a:off x="0" y="0"/>
            <a:ext cx="12192000" cy="856735"/>
          </a:xfrm>
          <a:prstGeom prst="rect">
            <a:avLst/>
          </a:prstGeom>
          <a:solidFill>
            <a:srgbClr val="144E9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5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9" name="Google Shape;19;p3"/>
          <p:cNvSpPr txBox="1">
            <a:spLocks noGrp="1"/>
          </p:cNvSpPr>
          <p:nvPr>
            <p:ph type="title"/>
          </p:nvPr>
        </p:nvSpPr>
        <p:spPr>
          <a:xfrm>
            <a:off x="5476103" y="42516"/>
            <a:ext cx="6559379" cy="7716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 panose="020B0604020202020204"/>
              <a:buNone/>
              <a:defRPr sz="3200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0" y="6532604"/>
            <a:ext cx="12192000" cy="333633"/>
          </a:xfrm>
          <a:prstGeom prst="rect">
            <a:avLst/>
          </a:prstGeom>
          <a:solidFill>
            <a:srgbClr val="144E9D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477794" y="0"/>
            <a:ext cx="45719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60190" y="154999"/>
            <a:ext cx="2147767" cy="54673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623887" y="1145224"/>
            <a:ext cx="10892609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раздела" type="secHead">
  <p:cSld name="SECTION_HEADER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Два объекта" type="twoObj">
  <p:cSld name="TWO_OBJECT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равнение" type="twoTxTwoObj">
  <p:cSld name="TWO_OBJECTS_WITH_TEX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олько заголовок" type="titleOnly">
  <p:cSld name="TITLE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устой слайд" type="blank">
  <p:cSld name="BLANK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бъект с подписью" type="objTx">
  <p:cSld name="OBJECT_WITH_CAPTION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исунок с подписью" type="picTx">
  <p:cSld name="PICTURE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 и вертикальный текст" type="vertTx">
  <p:cSld name="VERTICAL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ертикальный заголовок и текст" type="vertTitleAndTx">
  <p:cSld name="VERTICAL_TITLE_AND_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 lang="ru-RU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6.xml"/><Relationship Id="rId13" Type="http://schemas.openxmlformats.org/officeDocument/2006/relationships/slide" Target="slide11.xml"/><Relationship Id="rId18" Type="http://schemas.openxmlformats.org/officeDocument/2006/relationships/slide" Target="slide17.xml"/><Relationship Id="rId3" Type="http://schemas.openxmlformats.org/officeDocument/2006/relationships/image" Target="../media/image3.png"/><Relationship Id="rId7" Type="http://schemas.openxmlformats.org/officeDocument/2006/relationships/slide" Target="slide5.xml"/><Relationship Id="rId12" Type="http://schemas.openxmlformats.org/officeDocument/2006/relationships/slide" Target="slide10.xml"/><Relationship Id="rId17" Type="http://schemas.openxmlformats.org/officeDocument/2006/relationships/slide" Target="slide15.xml"/><Relationship Id="rId2" Type="http://schemas.openxmlformats.org/officeDocument/2006/relationships/notesSlide" Target="../notesSlides/notesSlide2.xml"/><Relationship Id="rId16" Type="http://schemas.openxmlformats.org/officeDocument/2006/relationships/slide" Target="slide14.xml"/><Relationship Id="rId1" Type="http://schemas.openxmlformats.org/officeDocument/2006/relationships/slideLayout" Target="../slideLayouts/slideLayout2.xml"/><Relationship Id="rId6" Type="http://schemas.openxmlformats.org/officeDocument/2006/relationships/slide" Target="slide4.xml"/><Relationship Id="rId11" Type="http://schemas.openxmlformats.org/officeDocument/2006/relationships/slide" Target="slide9.xml"/><Relationship Id="rId5" Type="http://schemas.openxmlformats.org/officeDocument/2006/relationships/slide" Target="slide3.xml"/><Relationship Id="rId15" Type="http://schemas.openxmlformats.org/officeDocument/2006/relationships/slide" Target="slide13.xml"/><Relationship Id="rId10" Type="http://schemas.openxmlformats.org/officeDocument/2006/relationships/slide" Target="slide8.xml"/><Relationship Id="rId19" Type="http://schemas.openxmlformats.org/officeDocument/2006/relationships/slide" Target="slide19.xml"/><Relationship Id="rId4" Type="http://schemas.openxmlformats.org/officeDocument/2006/relationships/slide" Target="slide1.xml"/><Relationship Id="rId9" Type="http://schemas.openxmlformats.org/officeDocument/2006/relationships/slide" Target="slide7.xml"/><Relationship Id="rId14" Type="http://schemas.openxmlformats.org/officeDocument/2006/relationships/slide" Target="slide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ctrTitle"/>
          </p:nvPr>
        </p:nvSpPr>
        <p:spPr>
          <a:xfrm>
            <a:off x="563270" y="3393407"/>
            <a:ext cx="11628730" cy="747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sz="2000" dirty="0">
                <a:sym typeface="+mn-ea"/>
              </a:rPr>
              <a:t>СОВРЕМЕННЫЕ ИНФОРМАЦИОННЫЕ ТЕХНОЛОГИИ </a:t>
            </a:r>
            <a:r>
              <a:rPr lang="ru-RU" sz="2000" dirty="0" smtClean="0">
                <a:sym typeface="+mn-ea"/>
              </a:rPr>
              <a:t>ДИСТИЛЛЯЦИИ ЗНАНИЙ</a:t>
            </a:r>
            <a:r>
              <a:rPr sz="2000" dirty="0" smtClean="0">
                <a:sym typeface="+mn-ea"/>
              </a:rPr>
              <a:t> </a:t>
            </a:r>
            <a:r>
              <a:rPr lang="ru-RU" sz="2000" dirty="0" smtClean="0">
                <a:sym typeface="+mn-ea"/>
              </a:rPr>
              <a:t>НЕ</a:t>
            </a:r>
            <a:r>
              <a:rPr sz="2000" dirty="0" smtClean="0">
                <a:sym typeface="+mn-ea"/>
              </a:rPr>
              <a:t>Й</a:t>
            </a:r>
            <a:r>
              <a:rPr lang="ru-RU" sz="2000" dirty="0" smtClean="0">
                <a:sym typeface="+mn-ea"/>
              </a:rPr>
              <a:t>РОННЫХ СЕТЕЙ</a:t>
            </a:r>
            <a:r>
              <a:rPr sz="2000" dirty="0" smtClean="0">
                <a:sym typeface="+mn-ea"/>
              </a:rPr>
              <a:t> </a:t>
            </a:r>
            <a:r>
              <a:rPr lang="ru-RU" sz="2000" dirty="0" smtClean="0">
                <a:sym typeface="+mn-ea"/>
              </a:rPr>
              <a:t>ДЛЯ ПОВЫШЕНИЯ ИХ ЭФФЕКТИВНОСТИ И ПРОИЗВОДИТЕЛЬНОСТИ</a:t>
            </a:r>
            <a:endParaRPr sz="2000" dirty="0">
              <a:sym typeface="+mn-ea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5427878" y="761373"/>
            <a:ext cx="6749987" cy="692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 dirty="0">
                <a:solidFill>
                  <a:schemeClr val="lt1"/>
                </a:solidFill>
                <a:latin typeface="Segoe UI Light" panose="020B0502040204020203" pitchFamily="34" charset="0"/>
                <a:ea typeface="Times New Roman" panose="02020603050405020304"/>
                <a:cs typeface="Segoe UI Light" panose="020B0502040204020203" pitchFamily="34" charset="0"/>
                <a:sym typeface="Times New Roman" panose="02020603050405020304"/>
              </a:rPr>
              <a:t>ФАКУЛЬТЕТ ПРИКЛАДНОЙ МАТЕМАТИКИ И ИНФОРМАТИКИ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500" b="1" dirty="0">
                <a:solidFill>
                  <a:schemeClr val="lt1"/>
                </a:solidFill>
                <a:latin typeface="Segoe UI Light" panose="020B0502040204020203" pitchFamily="34" charset="0"/>
                <a:ea typeface="Times New Roman" panose="02020603050405020304"/>
                <a:cs typeface="Segoe UI Light" panose="020B0502040204020203" pitchFamily="34" charset="0"/>
                <a:sym typeface="Times New Roman" panose="02020603050405020304"/>
              </a:rPr>
              <a:t>КАФЕДРА </a:t>
            </a:r>
            <a:r>
              <a:rPr lang="ru-RU" sz="1500" b="1" dirty="0" smtClean="0">
                <a:solidFill>
                  <a:schemeClr val="lt1"/>
                </a:solidFill>
                <a:latin typeface="Segoe UI Light" panose="020B0502040204020203" pitchFamily="34" charset="0"/>
                <a:ea typeface="Times New Roman" panose="02020603050405020304"/>
                <a:cs typeface="Segoe UI Light" panose="020B0502040204020203" pitchFamily="34" charset="0"/>
                <a:sym typeface="Times New Roman" panose="02020603050405020304"/>
              </a:rPr>
              <a:t>МАТЕМАТИЧЕСКОГО МОДЕЛИРОВАНИЯ И АНАЛИЗА ДАННЫХ</a:t>
            </a:r>
            <a:endParaRPr lang="ru-RU" sz="1500" b="1" dirty="0">
              <a:solidFill>
                <a:schemeClr val="lt1"/>
              </a:solidFill>
              <a:latin typeface="Segoe UI Light" panose="020B0502040204020203" pitchFamily="34" charset="0"/>
              <a:ea typeface="Times New Roman" panose="02020603050405020304"/>
              <a:cs typeface="Segoe UI Light" panose="020B0502040204020203" pitchFamily="34" charset="0"/>
              <a:sym typeface="Times New Roman" panose="02020603050405020304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549135" y="2399355"/>
            <a:ext cx="11628730" cy="488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dirty="0" smtClean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Карпенко Дмитрий Сергеевич</a:t>
            </a:r>
            <a:endParaRPr sz="1600" dirty="0">
              <a:solidFill>
                <a:schemeClr val="lt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58368" y="5836142"/>
            <a:ext cx="1162873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</a:t>
            </a:r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5427878" y="791025"/>
            <a:ext cx="0" cy="67933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Управляющая кнопка: назад 6">
            <a:hlinkClick r:id="" action="ppaction://hlinkshowjump?jump=previousslide"/>
          </p:cNvPr>
          <p:cNvSpPr/>
          <p:nvPr/>
        </p:nvSpPr>
        <p:spPr>
          <a:xfrm>
            <a:off x="5203190" y="6183630"/>
            <a:ext cx="564515" cy="325755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/>
          </a:p>
        </p:txBody>
      </p:sp>
      <p:sp>
        <p:nvSpPr>
          <p:cNvPr id="6" name="Управляющая кнопка: далее 5">
            <a:hlinkClick r:id="" action="ppaction://hlinkshowjump?jump=nextslide"/>
          </p:cNvPr>
          <p:cNvSpPr/>
          <p:nvPr/>
        </p:nvSpPr>
        <p:spPr>
          <a:xfrm>
            <a:off x="7185660" y="6182995"/>
            <a:ext cx="572770" cy="326390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/>
          </a:p>
        </p:txBody>
      </p:sp>
      <p:sp>
        <p:nvSpPr>
          <p:cNvPr id="2" name="Управляющая кнопка: домашняя 1">
            <a:hlinkClick r:id="rId3" action="ppaction://hlinksldjump"/>
          </p:cNvPr>
          <p:cNvSpPr/>
          <p:nvPr/>
        </p:nvSpPr>
        <p:spPr>
          <a:xfrm>
            <a:off x="6021705" y="6183630"/>
            <a:ext cx="909955" cy="325755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>
            <a:spLocks noGrp="1"/>
          </p:cNvSpPr>
          <p:nvPr>
            <p:ph type="title"/>
          </p:nvPr>
        </p:nvSpPr>
        <p:spPr>
          <a:xfrm>
            <a:off x="3518611" y="176988"/>
            <a:ext cx="8612087" cy="5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lnSpc>
                <a:spcPct val="100000"/>
              </a:lnSpc>
              <a:buClr>
                <a:schemeClr val="dk1"/>
              </a:buClr>
              <a:buSzPct val="58000"/>
            </a:pPr>
            <a:r>
              <a:rPr lang="ru-RU" sz="1500" dirty="0">
                <a:sym typeface="+mn-ea"/>
              </a:rPr>
              <a:t>СОВРЕМЕННЫЕ ИНФОРМАЦИОННЫЕ ТЕХНОЛОГИИ ДИСТИЛЛЯЦИИ ЗНАНИЙ НЕЙРОННЫХ СЕТЕЙ ДЛЯ ПОВЫШЕНИЯ ИХ ЭФФЕКТИВНОСТИ И ПРОИЗВОДИТЕЛЬНОСТИ</a:t>
            </a:r>
            <a:endParaRPr lang="ru-RU" sz="1500" b="1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95" name="Google Shape;95;p14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197253" y="2734113"/>
            <a:ext cx="3797494" cy="1389773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523125" y="6456550"/>
            <a:ext cx="3608100" cy="8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dirty="0" smtClean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Карпенко Д.С. </a:t>
            </a:r>
            <a:r>
              <a:rPr lang="ru-RU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Реферат 202</a:t>
            </a:r>
            <a:r>
              <a:rPr lang="en-US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5</a:t>
            </a:r>
            <a:endParaRPr dirty="0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" name="Текстовое поле 1"/>
          <p:cNvSpPr txBox="1"/>
          <p:nvPr/>
        </p:nvSpPr>
        <p:spPr>
          <a:xfrm>
            <a:off x="2480944" y="6483770"/>
            <a:ext cx="769175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fld id="{7D70D24E-22A2-4EF2-89C4-76EE51D78FF1}" type="slidenum">
              <a:rPr lang="ru-RU" sz="2000" b="0" strike="noStrike" spc="-1">
                <a:solidFill>
                  <a:schemeClr val="bg1"/>
                </a:solidFill>
                <a:latin typeface="Times New Roman" panose="02020603050405020304"/>
              </a:rPr>
              <a:t>2</a:t>
            </a:fld>
            <a:endParaRPr lang="ru-RU" altLang="en-US" sz="2000" b="0" strike="noStrike" spc="-1">
              <a:solidFill>
                <a:schemeClr val="bg1"/>
              </a:solidFill>
              <a:latin typeface="Times New Roman" panose="02020603050405020304"/>
            </a:endParaRPr>
          </a:p>
        </p:txBody>
      </p:sp>
      <p:sp>
        <p:nvSpPr>
          <p:cNvPr id="6" name="Управляющая кнопка: далее 5">
            <a:hlinkClick r:id="" action="ppaction://hlinkshowjump?jump=nextslide"/>
          </p:cNvPr>
          <p:cNvSpPr/>
          <p:nvPr/>
        </p:nvSpPr>
        <p:spPr>
          <a:xfrm>
            <a:off x="6546215" y="6072505"/>
            <a:ext cx="629285" cy="392430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/>
          </a:p>
        </p:txBody>
      </p:sp>
      <p:sp>
        <p:nvSpPr>
          <p:cNvPr id="7" name="Управляющая кнопка: назад 6">
            <a:hlinkClick r:id="" action="ppaction://hlinkshowjump?jump=previousslide"/>
          </p:cNvPr>
          <p:cNvSpPr/>
          <p:nvPr/>
        </p:nvSpPr>
        <p:spPr>
          <a:xfrm>
            <a:off x="5561330" y="6077585"/>
            <a:ext cx="563880" cy="381635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/>
          </a:p>
        </p:txBody>
      </p:sp>
      <p:sp>
        <p:nvSpPr>
          <p:cNvPr id="9" name="Текстовое поле 8"/>
          <p:cNvSpPr txBox="1"/>
          <p:nvPr/>
        </p:nvSpPr>
        <p:spPr>
          <a:xfrm>
            <a:off x="522605" y="840906"/>
            <a:ext cx="1166939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altLang="en-US" sz="2800" dirty="0"/>
              <a:t>Содержание</a:t>
            </a:r>
          </a:p>
        </p:txBody>
      </p:sp>
      <p:sp>
        <p:nvSpPr>
          <p:cNvPr id="10" name="Текстовое поле 9"/>
          <p:cNvSpPr txBox="1"/>
          <p:nvPr/>
        </p:nvSpPr>
        <p:spPr>
          <a:xfrm>
            <a:off x="523238" y="1139825"/>
            <a:ext cx="11607165" cy="541071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90000"/>
              </a:lnSpc>
            </a:pPr>
            <a:r>
              <a:rPr sz="2400" dirty="0" err="1">
                <a:hlinkClick r:id="rId4" action="ppaction://hlinksldjump"/>
              </a:rPr>
              <a:t>Тема</a:t>
            </a:r>
            <a:endParaRPr sz="2400" dirty="0"/>
          </a:p>
          <a:p>
            <a:pPr algn="just">
              <a:lnSpc>
                <a:spcPct val="90000"/>
              </a:lnSpc>
            </a:pPr>
            <a:r>
              <a:rPr sz="2400" dirty="0" err="1" smtClean="0">
                <a:hlinkClick r:id="rId5" action="ppaction://hlinksldjump"/>
              </a:rPr>
              <a:t>Актуальност</a:t>
            </a:r>
            <a:r>
              <a:rPr lang="ru-RU" sz="2400" dirty="0" smtClean="0">
                <a:hlinkClick r:id="rId5" action="ppaction://hlinksldjump"/>
              </a:rPr>
              <a:t>ь исследования </a:t>
            </a:r>
            <a:endParaRPr sz="2400" dirty="0"/>
          </a:p>
          <a:p>
            <a:pPr algn="just">
              <a:lnSpc>
                <a:spcPct val="90000"/>
              </a:lnSpc>
            </a:pPr>
            <a:r>
              <a:rPr lang="ru-RU" sz="2400" dirty="0">
                <a:hlinkClick r:id="rId6" action="ppaction://hlinksldjump"/>
              </a:rPr>
              <a:t>Ц</a:t>
            </a:r>
            <a:r>
              <a:rPr sz="2400" dirty="0" err="1" smtClean="0">
                <a:hlinkClick r:id="rId6" action="ppaction://hlinksldjump"/>
              </a:rPr>
              <a:t>ели</a:t>
            </a:r>
            <a:r>
              <a:rPr sz="2400" dirty="0" smtClean="0">
                <a:hlinkClick r:id="rId6" action="ppaction://hlinksldjump"/>
              </a:rPr>
              <a:t> </a:t>
            </a:r>
            <a:r>
              <a:rPr sz="2400" dirty="0">
                <a:hlinkClick r:id="rId6" action="ppaction://hlinksldjump"/>
              </a:rPr>
              <a:t>и </a:t>
            </a:r>
            <a:r>
              <a:rPr sz="2400" dirty="0" err="1" smtClean="0">
                <a:hlinkClick r:id="rId6" action="ppaction://hlinksldjump"/>
              </a:rPr>
              <a:t>задач</a:t>
            </a:r>
            <a:r>
              <a:rPr lang="ru-RU" sz="2400" dirty="0" smtClean="0">
                <a:hlinkClick r:id="rId6" action="ppaction://hlinksldjump"/>
              </a:rPr>
              <a:t>и исследования</a:t>
            </a:r>
            <a:endParaRPr sz="2400" dirty="0"/>
          </a:p>
          <a:p>
            <a:pPr algn="just">
              <a:lnSpc>
                <a:spcPct val="90000"/>
              </a:lnSpc>
            </a:pPr>
            <a:r>
              <a:rPr sz="2400" dirty="0" err="1">
                <a:hlinkClick r:id="rId7" action="ppaction://hlinksldjump"/>
              </a:rPr>
              <a:t>Объект</a:t>
            </a:r>
            <a:r>
              <a:rPr sz="2400" dirty="0">
                <a:hlinkClick r:id="rId7" action="ppaction://hlinksldjump"/>
              </a:rPr>
              <a:t> и </a:t>
            </a:r>
            <a:r>
              <a:rPr sz="2400" dirty="0" err="1">
                <a:hlinkClick r:id="rId7" action="ppaction://hlinksldjump"/>
              </a:rPr>
              <a:t>предмет</a:t>
            </a:r>
            <a:r>
              <a:rPr sz="2400" dirty="0">
                <a:hlinkClick r:id="rId7" action="ppaction://hlinksldjump"/>
              </a:rPr>
              <a:t> </a:t>
            </a:r>
            <a:r>
              <a:rPr sz="2400" dirty="0" err="1">
                <a:hlinkClick r:id="rId7" action="ppaction://hlinksldjump"/>
              </a:rPr>
              <a:t>исследования</a:t>
            </a:r>
            <a:endParaRPr sz="2400" dirty="0"/>
          </a:p>
          <a:p>
            <a:pPr algn="just">
              <a:lnSpc>
                <a:spcPct val="90000"/>
              </a:lnSpc>
              <a:buSzTx/>
            </a:pPr>
            <a:r>
              <a:rPr lang="ru-RU" sz="2400" dirty="0" smtClean="0">
                <a:sym typeface="+mn-ea"/>
                <a:hlinkClick r:id="rId8" action="ppaction://hlinksldjump"/>
              </a:rPr>
              <a:t>Методы дистилляции знаний. Классический подход (</a:t>
            </a:r>
            <a:r>
              <a:rPr lang="en-US" sz="2400" dirty="0" smtClean="0">
                <a:sym typeface="+mn-ea"/>
                <a:hlinkClick r:id="rId8" action="ppaction://hlinksldjump"/>
              </a:rPr>
              <a:t>Hinton et. al.)</a:t>
            </a:r>
            <a:endParaRPr sz="2400" dirty="0"/>
          </a:p>
          <a:p>
            <a:pPr algn="just">
              <a:lnSpc>
                <a:spcPct val="90000"/>
              </a:lnSpc>
              <a:buSzTx/>
            </a:pPr>
            <a:r>
              <a:rPr lang="ru-RU" altLang="en-US" sz="2400" dirty="0">
                <a:solidFill>
                  <a:schemeClr val="tx1"/>
                </a:solidFill>
                <a:sym typeface="+mn-ea"/>
                <a:hlinkClick r:id="rId9" action="ppaction://hlinksldjump"/>
              </a:rPr>
              <a:t>М</a:t>
            </a:r>
            <a:r>
              <a:rPr lang="ru-RU" altLang="en-US" sz="2400" dirty="0" smtClean="0">
                <a:solidFill>
                  <a:schemeClr val="tx1"/>
                </a:solidFill>
                <a:sym typeface="+mn-ea"/>
                <a:hlinkClick r:id="rId9" action="ppaction://hlinksldjump"/>
              </a:rPr>
              <a:t>етоды дистилляции знаний. Компресси</a:t>
            </a:r>
            <a:r>
              <a:rPr lang="ru-RU" altLang="en-US" sz="2400" dirty="0" smtClean="0">
                <a:solidFill>
                  <a:schemeClr val="tx1"/>
                </a:solidFill>
                <a:sym typeface="+mn-ea"/>
                <a:hlinkClick r:id="rId9" action="ppaction://hlinksldjump"/>
              </a:rPr>
              <a:t>я (</a:t>
            </a:r>
            <a:r>
              <a:rPr lang="en-US" altLang="en-US" sz="2400" dirty="0" err="1" smtClean="0">
                <a:solidFill>
                  <a:schemeClr val="tx1"/>
                </a:solidFill>
                <a:sym typeface="+mn-ea"/>
                <a:hlinkClick r:id="rId9" action="ppaction://hlinksldjump"/>
              </a:rPr>
              <a:t>DistillBERT</a:t>
            </a:r>
            <a:r>
              <a:rPr lang="en-US" altLang="en-US" sz="2400" dirty="0" smtClean="0">
                <a:solidFill>
                  <a:schemeClr val="tx1"/>
                </a:solidFill>
                <a:sym typeface="+mn-ea"/>
                <a:hlinkClick r:id="rId9" action="ppaction://hlinksldjump"/>
              </a:rPr>
              <a:t>)</a:t>
            </a:r>
            <a:endParaRPr lang="ru-RU" altLang="en-US" sz="2400" dirty="0">
              <a:solidFill>
                <a:schemeClr val="tx1"/>
              </a:solidFill>
              <a:sym typeface="+mn-ea"/>
            </a:endParaRPr>
          </a:p>
          <a:p>
            <a:pPr algn="just">
              <a:lnSpc>
                <a:spcPct val="90000"/>
              </a:lnSpc>
              <a:buSzTx/>
            </a:pPr>
            <a:r>
              <a:rPr lang="ru-RU" altLang="en-US" sz="2400" dirty="0">
                <a:solidFill>
                  <a:schemeClr val="tx1"/>
                </a:solidFill>
                <a:sym typeface="+mn-ea"/>
                <a:hlinkClick r:id="rId10" action="ppaction://hlinksldjump"/>
              </a:rPr>
              <a:t>М</a:t>
            </a:r>
            <a:r>
              <a:rPr lang="ru-RU" altLang="en-US" sz="2400" dirty="0" smtClean="0">
                <a:solidFill>
                  <a:schemeClr val="tx1"/>
                </a:solidFill>
                <a:sym typeface="+mn-ea"/>
                <a:hlinkClick r:id="rId10" action="ppaction://hlinksldjump"/>
              </a:rPr>
              <a:t>етоды дистилляции знаний. Передача внимания</a:t>
            </a:r>
            <a:r>
              <a:rPr lang="en-US" altLang="en-US" sz="2400" dirty="0" smtClean="0">
                <a:solidFill>
                  <a:schemeClr val="tx1"/>
                </a:solidFill>
                <a:sym typeface="+mn-ea"/>
                <a:hlinkClick r:id="rId10" action="ppaction://hlinksldjump"/>
              </a:rPr>
              <a:t> (AT)</a:t>
            </a:r>
            <a:endParaRPr lang="ru-RU" altLang="en-US" sz="2400" dirty="0">
              <a:solidFill>
                <a:schemeClr val="tx1"/>
              </a:solidFill>
              <a:sym typeface="+mn-ea"/>
            </a:endParaRPr>
          </a:p>
          <a:p>
            <a:pPr algn="just">
              <a:lnSpc>
                <a:spcPct val="90000"/>
              </a:lnSpc>
              <a:buSzTx/>
            </a:pPr>
            <a:r>
              <a:rPr lang="ru-RU" altLang="en-US" sz="2400" dirty="0" smtClean="0">
                <a:solidFill>
                  <a:schemeClr val="tx1"/>
                </a:solidFill>
                <a:sym typeface="+mn-ea"/>
                <a:hlinkClick r:id="rId11" action="ppaction://hlinksldjump"/>
              </a:rPr>
              <a:t>Методы дистилляции знаний. Адаптация для </a:t>
            </a:r>
            <a:r>
              <a:rPr lang="ru-RU" altLang="en-US" sz="2400" dirty="0" err="1" smtClean="0">
                <a:solidFill>
                  <a:schemeClr val="tx1"/>
                </a:solidFill>
                <a:sym typeface="+mn-ea"/>
                <a:hlinkClick r:id="rId11" action="ppaction://hlinksldjump"/>
              </a:rPr>
              <a:t>трансформеров</a:t>
            </a:r>
            <a:r>
              <a:rPr lang="ru-RU" altLang="en-US" sz="2400" dirty="0" smtClean="0">
                <a:solidFill>
                  <a:schemeClr val="tx1"/>
                </a:solidFill>
                <a:sym typeface="+mn-ea"/>
                <a:hlinkClick r:id="rId11" action="ppaction://hlinksldjump"/>
              </a:rPr>
              <a:t> (</a:t>
            </a:r>
            <a:r>
              <a:rPr lang="en-US" altLang="en-US" sz="2400" dirty="0" err="1" smtClean="0">
                <a:solidFill>
                  <a:schemeClr val="tx1"/>
                </a:solidFill>
                <a:sym typeface="+mn-ea"/>
                <a:hlinkClick r:id="rId11" action="ppaction://hlinksldjump"/>
              </a:rPr>
              <a:t>DeiT</a:t>
            </a:r>
            <a:r>
              <a:rPr lang="en-US" altLang="en-US" sz="2400" dirty="0" smtClean="0">
                <a:solidFill>
                  <a:schemeClr val="tx1"/>
                </a:solidFill>
                <a:sym typeface="+mn-ea"/>
                <a:hlinkClick r:id="rId11" action="ppaction://hlinksldjump"/>
              </a:rPr>
              <a:t>)</a:t>
            </a:r>
            <a:endParaRPr sz="2400" dirty="0" smtClean="0"/>
          </a:p>
          <a:p>
            <a:pPr algn="just">
              <a:lnSpc>
                <a:spcPct val="90000"/>
              </a:lnSpc>
              <a:buSzTx/>
            </a:pPr>
            <a:r>
              <a:rPr lang="ru-RU" altLang="en-US" sz="2400" dirty="0">
                <a:solidFill>
                  <a:schemeClr val="tx1"/>
                </a:solidFill>
                <a:sym typeface="+mn-ea"/>
                <a:hlinkClick r:id="rId12" action="ppaction://hlinksldjump"/>
              </a:rPr>
              <a:t>М</a:t>
            </a:r>
            <a:r>
              <a:rPr lang="ru-RU" altLang="en-US" sz="2400" dirty="0" smtClean="0">
                <a:solidFill>
                  <a:schemeClr val="tx1"/>
                </a:solidFill>
                <a:sym typeface="+mn-ea"/>
                <a:hlinkClick r:id="rId12" action="ppaction://hlinksldjump"/>
              </a:rPr>
              <a:t>етоды дистилляции знаний. Глубокое взаимное обучение (</a:t>
            </a:r>
            <a:r>
              <a:rPr lang="en-US" altLang="en-US" sz="2400" dirty="0" smtClean="0">
                <a:solidFill>
                  <a:schemeClr val="tx1"/>
                </a:solidFill>
                <a:sym typeface="+mn-ea"/>
                <a:hlinkClick r:id="rId12" action="ppaction://hlinksldjump"/>
              </a:rPr>
              <a:t>DML)</a:t>
            </a:r>
            <a:endParaRPr lang="ru-RU" altLang="en-US" sz="2400" dirty="0" smtClean="0">
              <a:solidFill>
                <a:schemeClr val="tx1"/>
              </a:solidFill>
              <a:sym typeface="+mn-ea"/>
            </a:endParaRPr>
          </a:p>
          <a:p>
            <a:pPr algn="just">
              <a:lnSpc>
                <a:spcPct val="90000"/>
              </a:lnSpc>
            </a:pPr>
            <a:r>
              <a:rPr lang="ru-RU" altLang="en-US" sz="2400" dirty="0">
                <a:solidFill>
                  <a:schemeClr val="tx1"/>
                </a:solidFill>
                <a:sym typeface="+mn-ea"/>
                <a:hlinkClick r:id="rId13" action="ppaction://hlinksldjump"/>
              </a:rPr>
              <a:t>Методы дистилляции знаний. </a:t>
            </a:r>
            <a:r>
              <a:rPr lang="ru-RU" altLang="en-US" sz="2400" dirty="0" smtClean="0">
                <a:solidFill>
                  <a:schemeClr val="tx1"/>
                </a:solidFill>
                <a:sym typeface="+mn-ea"/>
                <a:hlinkClick r:id="rId13" action="ppaction://hlinksldjump"/>
              </a:rPr>
              <a:t>Передача индуктивных смещений</a:t>
            </a:r>
            <a:endParaRPr lang="ru-RU" altLang="en-US" sz="2400" dirty="0">
              <a:solidFill>
                <a:schemeClr val="tx1"/>
              </a:solidFill>
              <a:sym typeface="+mn-ea"/>
            </a:endParaRPr>
          </a:p>
          <a:p>
            <a:pPr algn="just">
              <a:lnSpc>
                <a:spcPct val="90000"/>
              </a:lnSpc>
            </a:pPr>
            <a:r>
              <a:rPr lang="ru-RU" sz="2400" dirty="0" smtClean="0">
                <a:sym typeface="+mn-ea"/>
                <a:hlinkClick r:id="rId14" action="ppaction://hlinksldjump"/>
              </a:rPr>
              <a:t>Применение</a:t>
            </a:r>
            <a:endParaRPr lang="ru-RU" sz="2400" dirty="0">
              <a:sym typeface="+mn-ea"/>
            </a:endParaRPr>
          </a:p>
          <a:p>
            <a:pPr algn="just">
              <a:lnSpc>
                <a:spcPct val="90000"/>
              </a:lnSpc>
              <a:buSzTx/>
            </a:pPr>
            <a:r>
              <a:rPr sz="2400" dirty="0" err="1" smtClean="0">
                <a:sym typeface="+mn-ea"/>
                <a:hlinkClick r:id="rId15" action="ppaction://hlinksldjump"/>
              </a:rPr>
              <a:t>Проблемы</a:t>
            </a:r>
            <a:r>
              <a:rPr sz="2400" dirty="0" smtClean="0">
                <a:sym typeface="+mn-ea"/>
                <a:hlinkClick r:id="rId15" action="ppaction://hlinksldjump"/>
              </a:rPr>
              <a:t> </a:t>
            </a:r>
            <a:r>
              <a:rPr sz="2400" dirty="0">
                <a:sym typeface="+mn-ea"/>
                <a:hlinkClick r:id="rId15" action="ppaction://hlinksldjump"/>
              </a:rPr>
              <a:t>и </a:t>
            </a:r>
            <a:r>
              <a:rPr sz="2400" dirty="0" err="1">
                <a:sym typeface="+mn-ea"/>
                <a:hlinkClick r:id="rId15" action="ppaction://hlinksldjump"/>
              </a:rPr>
              <a:t>ограничения</a:t>
            </a:r>
            <a:endParaRPr sz="2400" dirty="0">
              <a:sym typeface="+mn-ea"/>
            </a:endParaRPr>
          </a:p>
          <a:p>
            <a:pPr algn="just">
              <a:lnSpc>
                <a:spcPct val="90000"/>
              </a:lnSpc>
              <a:buSzTx/>
            </a:pPr>
            <a:r>
              <a:rPr lang="ru-RU" altLang="en-US" sz="2400" dirty="0">
                <a:sym typeface="+mn-ea"/>
                <a:hlinkClick r:id="rId16" action="ppaction://hlinksldjump"/>
              </a:rPr>
              <a:t>Методика исследования</a:t>
            </a:r>
            <a:endParaRPr lang="ru-RU" altLang="en-US" sz="2400" dirty="0">
              <a:sym typeface="+mn-ea"/>
            </a:endParaRPr>
          </a:p>
          <a:p>
            <a:pPr algn="just">
              <a:lnSpc>
                <a:spcPct val="90000"/>
              </a:lnSpc>
              <a:buSzTx/>
            </a:pPr>
            <a:r>
              <a:rPr sz="2400" dirty="0" err="1">
                <a:sym typeface="+mn-ea"/>
                <a:hlinkClick r:id="rId17" action="ppaction://hlinksldjump"/>
              </a:rPr>
              <a:t>Результаты</a:t>
            </a:r>
            <a:r>
              <a:rPr sz="2400" dirty="0">
                <a:sym typeface="+mn-ea"/>
                <a:hlinkClick r:id="rId17" action="ppaction://hlinksldjump"/>
              </a:rPr>
              <a:t> </a:t>
            </a:r>
            <a:r>
              <a:rPr sz="2400" dirty="0" err="1">
                <a:sym typeface="+mn-ea"/>
                <a:hlinkClick r:id="rId17" action="ppaction://hlinksldjump"/>
              </a:rPr>
              <a:t>исследования</a:t>
            </a:r>
            <a:endParaRPr sz="2400" dirty="0">
              <a:sym typeface="+mn-ea"/>
            </a:endParaRPr>
          </a:p>
          <a:p>
            <a:pPr algn="just">
              <a:lnSpc>
                <a:spcPct val="90000"/>
              </a:lnSpc>
            </a:pPr>
            <a:r>
              <a:rPr lang="ru-RU" altLang="en-US" sz="2400" dirty="0">
                <a:sym typeface="+mn-ea"/>
                <a:hlinkClick r:id="rId18" action="ppaction://hlinksldjump"/>
              </a:rPr>
              <a:t>Заключение</a:t>
            </a:r>
            <a:endParaRPr lang="ru-RU" altLang="en-US" sz="2400" dirty="0">
              <a:sym typeface="+mn-ea"/>
            </a:endParaRPr>
          </a:p>
          <a:p>
            <a:pPr algn="just">
              <a:lnSpc>
                <a:spcPct val="90000"/>
              </a:lnSpc>
            </a:pPr>
            <a:r>
              <a:rPr sz="2400" dirty="0" err="1" smtClean="0">
                <a:hlinkClick r:id="rId19" action="ppaction://hlinksldjump"/>
              </a:rPr>
              <a:t>Спасибо</a:t>
            </a:r>
            <a:r>
              <a:rPr sz="2400" dirty="0" smtClean="0">
                <a:hlinkClick r:id="rId19" action="ppaction://hlinksldjump"/>
              </a:rPr>
              <a:t> </a:t>
            </a:r>
            <a:r>
              <a:rPr sz="2400" dirty="0" err="1">
                <a:hlinkClick r:id="rId19" action="ppaction://hlinksldjump"/>
              </a:rPr>
              <a:t>за</a:t>
            </a:r>
            <a:r>
              <a:rPr sz="2400" dirty="0">
                <a:hlinkClick r:id="rId19" action="ppaction://hlinksldjump"/>
              </a:rPr>
              <a:t> </a:t>
            </a:r>
            <a:r>
              <a:rPr sz="2400" dirty="0" err="1">
                <a:hlinkClick r:id="rId19" action="ppaction://hlinksldjump"/>
              </a:rPr>
              <a:t>внимание</a:t>
            </a:r>
            <a:endParaRPr lang="ru-RU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>
            <a:spLocks noGrp="1"/>
          </p:cNvSpPr>
          <p:nvPr>
            <p:ph type="title"/>
          </p:nvPr>
        </p:nvSpPr>
        <p:spPr>
          <a:xfrm>
            <a:off x="3518611" y="176988"/>
            <a:ext cx="8612087" cy="5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lnSpc>
                <a:spcPct val="100000"/>
              </a:lnSpc>
              <a:buClr>
                <a:schemeClr val="dk1"/>
              </a:buClr>
              <a:buSzPct val="58000"/>
            </a:pPr>
            <a:r>
              <a:rPr lang="ru-RU" sz="1500" dirty="0">
                <a:sym typeface="+mn-ea"/>
              </a:rPr>
              <a:t>СОВРЕМЕННЫЕ ИНФОРМАЦИОННЫЕ ТЕХНОЛОГИИ ДИСТИЛЛЯЦИИ ЗНАНИЙ НЕЙРОННЫХ СЕТЕЙ ДЛЯ ПОВЫШЕНИЯ ИХ ЭФФЕКТИВНОСТИ И ПРОИЗВОДИТЕЛЬНОСТИ</a:t>
            </a:r>
            <a:endParaRPr lang="ru-RU" sz="1500" b="1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pic>
        <p:nvPicPr>
          <p:cNvPr id="95" name="Google Shape;95;p14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197253" y="2734113"/>
            <a:ext cx="3797494" cy="1389773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523125" y="6456550"/>
            <a:ext cx="3608100" cy="8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dirty="0" smtClean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Карпенко Д.С. </a:t>
            </a:r>
            <a:r>
              <a:rPr lang="ru-RU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Реферат 202</a:t>
            </a:r>
            <a:r>
              <a:rPr lang="en-US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5</a:t>
            </a:r>
            <a:endParaRPr dirty="0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" name="Текстовое поле 1"/>
          <p:cNvSpPr txBox="1"/>
          <p:nvPr/>
        </p:nvSpPr>
        <p:spPr>
          <a:xfrm>
            <a:off x="2727411" y="6483770"/>
            <a:ext cx="7260417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fld id="{7D70D24E-22A2-4EF2-89C4-76EE51D78FF1}" type="slidenum">
              <a:rPr lang="ru-RU" sz="2000" b="0" strike="noStrike" spc="-1">
                <a:solidFill>
                  <a:schemeClr val="bg1"/>
                </a:solidFill>
                <a:latin typeface="Times New Roman" panose="02020603050405020304"/>
              </a:rPr>
              <a:t>3</a:t>
            </a:fld>
            <a:endParaRPr lang="ru-RU" altLang="en-US" sz="2000" b="0" strike="noStrike" spc="-1">
              <a:solidFill>
                <a:schemeClr val="bg1"/>
              </a:solidFill>
              <a:latin typeface="Times New Roman" panose="02020603050405020304"/>
            </a:endParaRPr>
          </a:p>
        </p:txBody>
      </p:sp>
      <p:sp>
        <p:nvSpPr>
          <p:cNvPr id="5" name="Управляющая кнопка: домашняя 4">
            <a:hlinkClick r:id="rId4" action="ppaction://hlinksldjump"/>
          </p:cNvPr>
          <p:cNvSpPr/>
          <p:nvPr/>
        </p:nvSpPr>
        <p:spPr>
          <a:xfrm>
            <a:off x="5768340" y="5691505"/>
            <a:ext cx="1178560" cy="628015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/>
          </a:p>
        </p:txBody>
      </p:sp>
      <p:sp>
        <p:nvSpPr>
          <p:cNvPr id="6" name="Управляющая кнопка: далее 5">
            <a:hlinkClick r:id="" action="ppaction://hlinkshowjump?jump=nextslide"/>
          </p:cNvPr>
          <p:cNvSpPr/>
          <p:nvPr/>
        </p:nvSpPr>
        <p:spPr>
          <a:xfrm>
            <a:off x="7365365" y="5691505"/>
            <a:ext cx="1178560" cy="628015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/>
          </a:p>
        </p:txBody>
      </p:sp>
      <p:sp>
        <p:nvSpPr>
          <p:cNvPr id="7" name="Управляющая кнопка: назад 6">
            <a:hlinkClick r:id="" action="ppaction://hlinkshowjump?jump=previousslide"/>
          </p:cNvPr>
          <p:cNvSpPr/>
          <p:nvPr/>
        </p:nvSpPr>
        <p:spPr>
          <a:xfrm>
            <a:off x="4195445" y="5691505"/>
            <a:ext cx="1178560" cy="628015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/>
          </a:p>
        </p:txBody>
      </p:sp>
      <p:sp>
        <p:nvSpPr>
          <p:cNvPr id="3" name="Текстовое поле 2"/>
          <p:cNvSpPr txBox="1"/>
          <p:nvPr/>
        </p:nvSpPr>
        <p:spPr>
          <a:xfrm>
            <a:off x="523240" y="909320"/>
            <a:ext cx="11668760" cy="603242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indent="0" algn="ctr">
              <a:buNone/>
            </a:pPr>
            <a:r>
              <a:rPr sz="3600" dirty="0" err="1">
                <a:sym typeface="+mn-ea"/>
              </a:rPr>
              <a:t>Актуальность</a:t>
            </a:r>
            <a:r>
              <a:rPr sz="3600" dirty="0">
                <a:sym typeface="+mn-ea"/>
              </a:rPr>
              <a:t> </a:t>
            </a:r>
            <a:r>
              <a:rPr sz="3600" dirty="0" err="1" smtClean="0">
                <a:sym typeface="+mn-ea"/>
              </a:rPr>
              <a:t>исследования</a:t>
            </a:r>
            <a:endParaRPr lang="ru-RU" altLang="en-US" sz="3000" dirty="0"/>
          </a:p>
          <a:p>
            <a:pPr marL="457200" indent="-457200">
              <a:buFont typeface="Arial" panose="02080604020202020204" pitchFamily="34" charset="0"/>
              <a:buChar char="•"/>
            </a:pPr>
            <a:r>
              <a:rPr lang="ru-RU" sz="3000" b="1" dirty="0" smtClean="0">
                <a:sym typeface="+mn-ea"/>
              </a:rPr>
              <a:t>Экспоненциальный рост моделей</a:t>
            </a:r>
            <a:r>
              <a:rPr sz="3000" b="1" dirty="0" smtClean="0">
                <a:sym typeface="+mn-ea"/>
              </a:rPr>
              <a:t>.</a:t>
            </a:r>
            <a:endParaRPr lang="ru-RU" b="1" dirty="0"/>
          </a:p>
          <a:p>
            <a:pPr marL="342900" lvl="3" indent="-342900">
              <a:buFont typeface="Courier New" panose="02070309020205020404" pitchFamily="49" charset="0"/>
              <a:buChar char="o"/>
            </a:pPr>
            <a:r>
              <a:rPr lang="ru-RU" sz="2200" dirty="0" smtClean="0"/>
              <a:t>Параметры </a:t>
            </a:r>
            <a:r>
              <a:rPr lang="ru-RU" sz="2200" dirty="0"/>
              <a:t>моделей выросли от миллионов (BERT: 110-340 млн) до сотен миллиардов (GPT-5: &gt;100 млрд</a:t>
            </a:r>
            <a:r>
              <a:rPr lang="ru-RU" sz="2200" dirty="0" smtClean="0"/>
              <a:t>).</a:t>
            </a:r>
            <a:endParaRPr lang="ru-RU" altLang="en-US" sz="2200" dirty="0" smtClean="0"/>
          </a:p>
          <a:p>
            <a:pPr marL="457200" indent="-457200">
              <a:buFont typeface="Arial" panose="02080604020202020204" pitchFamily="34" charset="0"/>
              <a:buChar char="•"/>
            </a:pPr>
            <a:r>
              <a:rPr lang="ru-RU" sz="3000" b="1" dirty="0" smtClean="0">
                <a:sym typeface="+mn-ea"/>
              </a:rPr>
              <a:t>Технологические и экономические барьеры</a:t>
            </a:r>
            <a:r>
              <a:rPr sz="3000" b="1" dirty="0" smtClean="0">
                <a:sym typeface="+mn-ea"/>
              </a:rPr>
              <a:t>.</a:t>
            </a:r>
            <a:endParaRPr lang="ru-RU" b="1" dirty="0"/>
          </a:p>
          <a:p>
            <a:pPr marL="342900" lvl="5" indent="-342900">
              <a:buFont typeface="Courier New" panose="02070309020205020404" pitchFamily="49" charset="0"/>
              <a:buChar char="o"/>
            </a:pPr>
            <a:r>
              <a:rPr lang="ru-RU" sz="2200" dirty="0" smtClean="0"/>
              <a:t>Невозможность </a:t>
            </a:r>
            <a:r>
              <a:rPr lang="ru-RU" sz="2200" dirty="0"/>
              <a:t>развертывания на устройствах с ограниченными ресурсами (смартфоны, встраиваемые системы</a:t>
            </a:r>
            <a:r>
              <a:rPr lang="ru-RU" sz="2200" dirty="0" smtClean="0"/>
              <a:t>).</a:t>
            </a:r>
            <a:endParaRPr lang="ru-RU" altLang="en-US" sz="2200" dirty="0"/>
          </a:p>
          <a:p>
            <a:pPr marL="457200" indent="-457200">
              <a:buFont typeface="Arial" panose="02080604020202020204" pitchFamily="34" charset="0"/>
              <a:buChar char="•"/>
            </a:pPr>
            <a:r>
              <a:rPr lang="ru-RU" sz="3000" b="1" dirty="0" smtClean="0">
                <a:sym typeface="+mn-ea"/>
              </a:rPr>
              <a:t>Экологические проблемы</a:t>
            </a:r>
            <a:r>
              <a:rPr sz="3000" b="1" dirty="0" smtClean="0">
                <a:sym typeface="+mn-ea"/>
              </a:rPr>
              <a:t>.</a:t>
            </a:r>
            <a:endParaRPr lang="ru-RU" b="1" dirty="0"/>
          </a:p>
          <a:p>
            <a:pPr marL="342900" lvl="2" indent="-342900">
              <a:buFont typeface="Courier New" panose="02070309020205020404" pitchFamily="49" charset="0"/>
              <a:buChar char="o"/>
            </a:pPr>
            <a:r>
              <a:rPr lang="ru-RU" sz="2200" dirty="0"/>
              <a:t>Высокие вычислительные затраты ведут к увеличению углеродного следа</a:t>
            </a:r>
            <a:r>
              <a:rPr lang="ru-RU" sz="2200" dirty="0" smtClean="0"/>
              <a:t>.</a:t>
            </a:r>
            <a:endParaRPr lang="ru-RU" altLang="en-US" sz="2200" dirty="0"/>
          </a:p>
          <a:p>
            <a:r>
              <a:rPr lang="ru-RU" sz="3000" b="1" dirty="0" smtClean="0">
                <a:sym typeface="+mn-ea"/>
              </a:rPr>
              <a:t>Решение</a:t>
            </a:r>
            <a:r>
              <a:rPr lang="ru-RU" sz="3000" dirty="0" smtClean="0">
                <a:sym typeface="+mn-ea"/>
              </a:rPr>
              <a:t>: </a:t>
            </a:r>
            <a:r>
              <a:rPr lang="ru-RU" sz="3000" dirty="0" smtClean="0"/>
              <a:t>Дистилляция </a:t>
            </a:r>
            <a:r>
              <a:rPr lang="ru-RU" sz="3000" dirty="0"/>
              <a:t>знаний (</a:t>
            </a:r>
            <a:r>
              <a:rPr lang="ru-RU" sz="3000" dirty="0" err="1"/>
              <a:t>Knowledge</a:t>
            </a:r>
            <a:r>
              <a:rPr lang="ru-RU" sz="3000" dirty="0"/>
              <a:t> </a:t>
            </a:r>
            <a:r>
              <a:rPr lang="ru-RU" sz="3000" dirty="0" err="1"/>
              <a:t>Distillation</a:t>
            </a:r>
            <a:r>
              <a:rPr lang="ru-RU" sz="3000" dirty="0"/>
              <a:t>) — ключевая технология для создания компактных и эффективных моделей.</a:t>
            </a:r>
          </a:p>
          <a:p>
            <a:endParaRPr lang="ru-RU" sz="3000" dirty="0" smtClean="0">
              <a:sym typeface="+mn-ea"/>
            </a:endParaRPr>
          </a:p>
          <a:p>
            <a:endParaRPr lang="ru-RU" altLang="en-US" sz="3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>
            <a:spLocks noGrp="1"/>
          </p:cNvSpPr>
          <p:nvPr>
            <p:ph type="title"/>
          </p:nvPr>
        </p:nvSpPr>
        <p:spPr>
          <a:xfrm>
            <a:off x="3518611" y="176988"/>
            <a:ext cx="8612087" cy="5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lnSpc>
                <a:spcPct val="100000"/>
              </a:lnSpc>
              <a:buClr>
                <a:schemeClr val="dk1"/>
              </a:buClr>
              <a:buSzPct val="58000"/>
            </a:pPr>
            <a:r>
              <a:rPr lang="ru-RU" sz="1500" dirty="0">
                <a:sym typeface="+mn-ea"/>
              </a:rPr>
              <a:t>СОВРЕМЕННЫЕ ИНФОРМАЦИОННЫЕ ТЕХНОЛОГИИ ДИСТИЛЛЯЦИИ ЗНАНИЙ НЕЙРОННЫХ СЕТЕЙ ДЛЯ ПОВЫШЕНИЯ ИХ ЭФФЕКТИВНОСТИ И ПРОИЗВОДИТЕЛЬНОСТИ</a:t>
            </a:r>
            <a:endParaRPr lang="ru-RU" sz="1500" b="1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523125" y="6456550"/>
            <a:ext cx="3608100" cy="8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dirty="0" smtClean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Карпенко Д.С. </a:t>
            </a:r>
            <a:r>
              <a:rPr lang="ru-RU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Реферат 202</a:t>
            </a:r>
            <a:r>
              <a:rPr lang="en-US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5</a:t>
            </a:r>
            <a:endParaRPr dirty="0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" name="Текстовое поле 1"/>
          <p:cNvSpPr txBox="1"/>
          <p:nvPr/>
        </p:nvSpPr>
        <p:spPr>
          <a:xfrm>
            <a:off x="3591011" y="6456550"/>
            <a:ext cx="5533217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fld id="{7D70D24E-22A2-4EF2-89C4-76EE51D78FF1}" type="slidenum">
              <a:rPr lang="ru-RU" sz="2000" b="0" strike="noStrike" spc="-1">
                <a:solidFill>
                  <a:schemeClr val="bg1"/>
                </a:solidFill>
                <a:latin typeface="Times New Roman" panose="02020603050405020304"/>
              </a:rPr>
              <a:t>4</a:t>
            </a:fld>
            <a:endParaRPr lang="ru-RU" altLang="en-US" sz="2000" b="0" strike="noStrike" spc="-1">
              <a:solidFill>
                <a:schemeClr val="bg1"/>
              </a:solidFill>
              <a:latin typeface="Times New Roman" panose="02020603050405020304"/>
            </a:endParaRPr>
          </a:p>
        </p:txBody>
      </p:sp>
      <p:sp>
        <p:nvSpPr>
          <p:cNvPr id="5" name="Управляющая кнопка: домашняя 4">
            <a:hlinkClick r:id="rId3" action="ppaction://hlinksldjump"/>
          </p:cNvPr>
          <p:cNvSpPr/>
          <p:nvPr/>
        </p:nvSpPr>
        <p:spPr>
          <a:xfrm>
            <a:off x="5768340" y="5691505"/>
            <a:ext cx="1178560" cy="628015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/>
          </a:p>
        </p:txBody>
      </p:sp>
      <p:sp>
        <p:nvSpPr>
          <p:cNvPr id="6" name="Управляющая кнопка: далее 5">
            <a:hlinkClick r:id="" action="ppaction://hlinkshowjump?jump=nextslide"/>
          </p:cNvPr>
          <p:cNvSpPr/>
          <p:nvPr/>
        </p:nvSpPr>
        <p:spPr>
          <a:xfrm>
            <a:off x="7365365" y="5691505"/>
            <a:ext cx="1178560" cy="628015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/>
          </a:p>
        </p:txBody>
      </p:sp>
      <p:sp>
        <p:nvSpPr>
          <p:cNvPr id="7" name="Управляющая кнопка: назад 6">
            <a:hlinkClick r:id="" action="ppaction://hlinkshowjump?jump=previousslide"/>
          </p:cNvPr>
          <p:cNvSpPr/>
          <p:nvPr/>
        </p:nvSpPr>
        <p:spPr>
          <a:xfrm>
            <a:off x="4195445" y="5691505"/>
            <a:ext cx="1178560" cy="628015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/>
          </a:p>
        </p:txBody>
      </p:sp>
      <p:sp>
        <p:nvSpPr>
          <p:cNvPr id="3" name="Текстовое поле 2"/>
          <p:cNvSpPr txBox="1"/>
          <p:nvPr/>
        </p:nvSpPr>
        <p:spPr>
          <a:xfrm>
            <a:off x="0" y="833018"/>
            <a:ext cx="12192000" cy="477053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ru-RU" altLang="en-US" sz="3200" dirty="0" smtClean="0"/>
              <a:t>Цель исследования</a:t>
            </a:r>
          </a:p>
          <a:p>
            <a:pPr algn="ctr"/>
            <a:endParaRPr lang="ru-RU" altLang="en-US" sz="2400" dirty="0"/>
          </a:p>
          <a:p>
            <a:r>
              <a:rPr lang="ru-RU" sz="2400" dirty="0"/>
              <a:t>Комплексный анализ современных технологий дистилляции знаний нейронных сетей для создания компактных, быстрых и точных моделей.</a:t>
            </a:r>
          </a:p>
          <a:p>
            <a:pPr algn="ctr"/>
            <a:r>
              <a:rPr lang="ru-RU" altLang="en-US" sz="3200" dirty="0" smtClean="0"/>
              <a:t>Задачи исследования</a:t>
            </a:r>
            <a:endParaRPr lang="ru-RU" altLang="en-US" sz="2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2400" dirty="0"/>
              <a:t>Проанализировать эволюцию концепции дистилляции знаний.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2400" dirty="0"/>
              <a:t>Систематизировать подходы к компрессии и ускорению моделей (на примере </a:t>
            </a:r>
            <a:r>
              <a:rPr lang="ru-RU" sz="2400" dirty="0" err="1"/>
              <a:t>DistilBERT</a:t>
            </a:r>
            <a:r>
              <a:rPr lang="ru-RU" sz="2400" dirty="0"/>
              <a:t>).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2400" dirty="0"/>
              <a:t>Исследовать методы передачи знаний через промежуточные представления (</a:t>
            </a:r>
            <a:r>
              <a:rPr lang="ru-RU" sz="2400" dirty="0" err="1"/>
              <a:t>Attention</a:t>
            </a:r>
            <a:r>
              <a:rPr lang="ru-RU" sz="2400" dirty="0"/>
              <a:t> </a:t>
            </a:r>
            <a:r>
              <a:rPr lang="ru-RU" sz="2400" dirty="0" err="1"/>
              <a:t>Transfer</a:t>
            </a:r>
            <a:r>
              <a:rPr lang="ru-RU" sz="2400" dirty="0"/>
              <a:t>).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2400" dirty="0"/>
              <a:t>Провести анализ альтернативных парадигм (глубокое взаимное обучение - DML).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2400" dirty="0"/>
              <a:t>Оценить дистилляцию как механизм передачи индуктивных смещений.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>
            <a:spLocks noGrp="1"/>
          </p:cNvSpPr>
          <p:nvPr>
            <p:ph type="title"/>
          </p:nvPr>
        </p:nvSpPr>
        <p:spPr>
          <a:xfrm>
            <a:off x="3518611" y="176988"/>
            <a:ext cx="8612087" cy="5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lnSpc>
                <a:spcPct val="100000"/>
              </a:lnSpc>
              <a:buClr>
                <a:schemeClr val="dk1"/>
              </a:buClr>
              <a:buSzPct val="58000"/>
            </a:pPr>
            <a:r>
              <a:rPr lang="ru-RU" sz="1500" dirty="0">
                <a:sym typeface="+mn-ea"/>
              </a:rPr>
              <a:t>СОВРЕМЕННЫЕ ИНФОРМАЦИОННЫЕ ТЕХНОЛОГИИ ДИСТИЛЛЯЦИИ ЗНАНИЙ НЕЙРОННЫХ СЕТЕЙ ДЛЯ ПОВЫШЕНИЯ ИХ ЭФФЕКТИВНОСТИ И ПРОИЗВОДИТЕЛЬНОСТИ</a:t>
            </a:r>
            <a:endParaRPr lang="ru-RU" sz="1500" b="1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430325" y="6006000"/>
            <a:ext cx="3608100" cy="8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Бекетов Д. Д. роект 2023</a:t>
            </a:r>
            <a:endParaRPr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523125" y="6456550"/>
            <a:ext cx="3608100" cy="8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dirty="0" smtClean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Карпенко Д.С. </a:t>
            </a:r>
            <a:r>
              <a:rPr lang="ru-RU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Реферат 202</a:t>
            </a:r>
            <a:r>
              <a:rPr lang="en-US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5</a:t>
            </a:r>
            <a:endParaRPr dirty="0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" name="Текстовое поле 1"/>
          <p:cNvSpPr txBox="1"/>
          <p:nvPr/>
        </p:nvSpPr>
        <p:spPr>
          <a:xfrm>
            <a:off x="3295448" y="6459220"/>
            <a:ext cx="6124344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fld id="{7D70D24E-22A2-4EF2-89C4-76EE51D78FF1}" type="slidenum">
              <a:rPr lang="ru-RU" sz="2000" b="0" strike="noStrike" spc="-1">
                <a:solidFill>
                  <a:schemeClr val="bg1"/>
                </a:solidFill>
                <a:latin typeface="Times New Roman" panose="02020603050405020304"/>
              </a:rPr>
              <a:t>5</a:t>
            </a:fld>
            <a:endParaRPr lang="ru-RU" altLang="en-US" sz="2000" b="0" strike="noStrike" spc="-1">
              <a:solidFill>
                <a:schemeClr val="bg1"/>
              </a:solidFill>
              <a:latin typeface="Times New Roman" panose="02020603050405020304"/>
            </a:endParaRPr>
          </a:p>
        </p:txBody>
      </p:sp>
      <p:sp>
        <p:nvSpPr>
          <p:cNvPr id="5" name="Управляющая кнопка: домашняя 4">
            <a:hlinkClick r:id="rId3" action="ppaction://hlinksldjump"/>
          </p:cNvPr>
          <p:cNvSpPr/>
          <p:nvPr/>
        </p:nvSpPr>
        <p:spPr>
          <a:xfrm>
            <a:off x="5768340" y="5691505"/>
            <a:ext cx="1178560" cy="628015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/>
          </a:p>
        </p:txBody>
      </p:sp>
      <p:sp>
        <p:nvSpPr>
          <p:cNvPr id="6" name="Управляющая кнопка: далее 5">
            <a:hlinkClick r:id="" action="ppaction://hlinkshowjump?jump=nextslide"/>
          </p:cNvPr>
          <p:cNvSpPr/>
          <p:nvPr/>
        </p:nvSpPr>
        <p:spPr>
          <a:xfrm>
            <a:off x="7365365" y="5691505"/>
            <a:ext cx="1178560" cy="628015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/>
          </a:p>
        </p:txBody>
      </p:sp>
      <p:sp>
        <p:nvSpPr>
          <p:cNvPr id="7" name="Управляющая кнопка: назад 6">
            <a:hlinkClick r:id="" action="ppaction://hlinkshowjump?jump=previousslide"/>
          </p:cNvPr>
          <p:cNvSpPr/>
          <p:nvPr/>
        </p:nvSpPr>
        <p:spPr>
          <a:xfrm>
            <a:off x="4195445" y="5691505"/>
            <a:ext cx="1178560" cy="628015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/>
          </a:p>
        </p:txBody>
      </p:sp>
      <p:sp>
        <p:nvSpPr>
          <p:cNvPr id="3" name="Текстовое поле 2"/>
          <p:cNvSpPr txBox="1"/>
          <p:nvPr/>
        </p:nvSpPr>
        <p:spPr>
          <a:xfrm>
            <a:off x="523240" y="897890"/>
            <a:ext cx="11668760" cy="412420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ru-RU" altLang="en-US" sz="4000" dirty="0"/>
              <a:t>Объект </a:t>
            </a:r>
            <a:r>
              <a:rPr lang="ru-RU" altLang="en-US" sz="4000" dirty="0" smtClean="0"/>
              <a:t>исследования</a:t>
            </a:r>
            <a:endParaRPr lang="ru-RU" altLang="en-US" sz="2800" dirty="0"/>
          </a:p>
          <a:p>
            <a:endParaRPr lang="ru-RU" dirty="0"/>
          </a:p>
          <a:p>
            <a:pPr lvl="1" algn="ctr"/>
            <a:r>
              <a:rPr lang="ru-RU" sz="2800" dirty="0"/>
              <a:t>Процесс передачи знаний в глубоких нейронных сетях</a:t>
            </a:r>
            <a:r>
              <a:rPr lang="ru-RU" sz="2800" dirty="0" smtClean="0"/>
              <a:t>.</a:t>
            </a:r>
            <a:endParaRPr lang="ru-RU" altLang="en-US" sz="2800" dirty="0"/>
          </a:p>
          <a:p>
            <a:pPr algn="ctr"/>
            <a:endParaRPr lang="ru-RU" altLang="en-US" sz="2800" dirty="0"/>
          </a:p>
          <a:p>
            <a:pPr algn="ctr"/>
            <a:r>
              <a:rPr lang="ru-RU" altLang="en-US" sz="4000" dirty="0"/>
              <a:t>Предмет исследования</a:t>
            </a:r>
            <a:endParaRPr lang="ru-RU" altLang="en-US" sz="2800" dirty="0"/>
          </a:p>
          <a:p>
            <a:pPr algn="ctr"/>
            <a:endParaRPr lang="ru-RU" altLang="en-US" sz="2800" dirty="0"/>
          </a:p>
          <a:p>
            <a:pPr algn="ctr"/>
            <a:r>
              <a:rPr lang="ru-RU" sz="2800" dirty="0"/>
              <a:t>Методы и технологии дистилляции знаний, направленные на повышение производительности, эффективности и обобщающей способности </a:t>
            </a:r>
            <a:r>
              <a:rPr lang="ru-RU" sz="2800" dirty="0" err="1"/>
              <a:t>нейросетевых</a:t>
            </a:r>
            <a:r>
              <a:rPr lang="ru-RU" sz="2800" dirty="0"/>
              <a:t> моделей.</a:t>
            </a:r>
            <a:endParaRPr lang="ru-RU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>
            <a:spLocks noGrp="1"/>
          </p:cNvSpPr>
          <p:nvPr>
            <p:ph type="title"/>
          </p:nvPr>
        </p:nvSpPr>
        <p:spPr>
          <a:xfrm>
            <a:off x="3518611" y="176988"/>
            <a:ext cx="8612087" cy="5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lnSpc>
                <a:spcPct val="100000"/>
              </a:lnSpc>
              <a:buClr>
                <a:schemeClr val="dk1"/>
              </a:buClr>
              <a:buSzPct val="58000"/>
            </a:pPr>
            <a:r>
              <a:rPr lang="ru-RU" sz="1500" dirty="0">
                <a:sym typeface="+mn-ea"/>
              </a:rPr>
              <a:t>СОВРЕМЕННЫЕ ИНФОРМАЦИОННЫЕ ТЕХНОЛОГИИ ДИСТИЛЛЯЦИИ ЗНАНИЙ НЕЙРОННЫХ СЕТЕЙ ДЛЯ ПОВЫШЕНИЯ ИХ ЭФФЕКТИВНОСТИ И ПРОИЗВОДИТЕЛЬНОСТИ</a:t>
            </a:r>
            <a:endParaRPr lang="ru-RU" sz="1500" b="1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430325" y="6006000"/>
            <a:ext cx="3608100" cy="8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Бекетов Д. Д. роект 2023</a:t>
            </a:r>
            <a:endParaRPr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523125" y="6456550"/>
            <a:ext cx="3608100" cy="8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dirty="0" smtClean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Карпенко Д.С. </a:t>
            </a:r>
            <a:r>
              <a:rPr lang="ru-RU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Реферат 202</a:t>
            </a:r>
            <a:r>
              <a:rPr lang="en-US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5</a:t>
            </a:r>
            <a:endParaRPr dirty="0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" name="Текстовое поле 1"/>
          <p:cNvSpPr txBox="1"/>
          <p:nvPr/>
        </p:nvSpPr>
        <p:spPr>
          <a:xfrm>
            <a:off x="3867784" y="6483770"/>
            <a:ext cx="497903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fld id="{7D70D24E-22A2-4EF2-89C4-76EE51D78FF1}" type="slidenum">
              <a:rPr lang="ru-RU" sz="2000" b="0" strike="noStrike" spc="-1">
                <a:solidFill>
                  <a:schemeClr val="bg1"/>
                </a:solidFill>
                <a:latin typeface="Times New Roman" panose="02020603050405020304"/>
              </a:rPr>
              <a:t>6</a:t>
            </a:fld>
            <a:endParaRPr lang="ru-RU" altLang="en-US" sz="2000" b="0" strike="noStrike" spc="-1">
              <a:solidFill>
                <a:schemeClr val="bg1"/>
              </a:solidFill>
              <a:latin typeface="Times New Roman" panose="02020603050405020304"/>
            </a:endParaRPr>
          </a:p>
        </p:txBody>
      </p:sp>
      <p:sp>
        <p:nvSpPr>
          <p:cNvPr id="5" name="Управляющая кнопка: домашняя 4">
            <a:hlinkClick r:id="rId3" action="ppaction://hlinksldjump"/>
          </p:cNvPr>
          <p:cNvSpPr/>
          <p:nvPr/>
        </p:nvSpPr>
        <p:spPr>
          <a:xfrm>
            <a:off x="5768340" y="5691505"/>
            <a:ext cx="1178560" cy="628015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/>
          </a:p>
        </p:txBody>
      </p:sp>
      <p:sp>
        <p:nvSpPr>
          <p:cNvPr id="6" name="Управляющая кнопка: далее 5">
            <a:hlinkClick r:id="" action="ppaction://hlinkshowjump?jump=nextslide"/>
          </p:cNvPr>
          <p:cNvSpPr/>
          <p:nvPr/>
        </p:nvSpPr>
        <p:spPr>
          <a:xfrm>
            <a:off x="7365365" y="5691505"/>
            <a:ext cx="1178560" cy="628015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/>
          </a:p>
        </p:txBody>
      </p:sp>
      <p:sp>
        <p:nvSpPr>
          <p:cNvPr id="7" name="Управляющая кнопка: назад 6">
            <a:hlinkClick r:id="" action="ppaction://hlinkshowjump?jump=previousslide"/>
          </p:cNvPr>
          <p:cNvSpPr/>
          <p:nvPr/>
        </p:nvSpPr>
        <p:spPr>
          <a:xfrm>
            <a:off x="4195445" y="5691505"/>
            <a:ext cx="1178560" cy="628015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/>
          </a:p>
        </p:txBody>
      </p:sp>
      <p:sp>
        <p:nvSpPr>
          <p:cNvPr id="3" name="Текстовое поле 2"/>
          <p:cNvSpPr txBox="1"/>
          <p:nvPr/>
        </p:nvSpPr>
        <p:spPr>
          <a:xfrm>
            <a:off x="523240" y="897890"/>
            <a:ext cx="1166876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endParaRPr lang="ru-RU" altLang="en-US" sz="2800"/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522605" y="898525"/>
            <a:ext cx="11669395" cy="5078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ru-RU" sz="2700" b="1" dirty="0"/>
              <a:t>Методы дистилляции знаний. Классический подход (</a:t>
            </a:r>
            <a:r>
              <a:rPr lang="ru-RU" sz="2700" b="1" dirty="0" err="1"/>
              <a:t>Hinton</a:t>
            </a:r>
            <a:r>
              <a:rPr lang="ru-RU" sz="2700" b="1" dirty="0"/>
              <a:t> </a:t>
            </a:r>
            <a:r>
              <a:rPr lang="ru-RU" sz="2700" b="1" dirty="0" err="1"/>
              <a:t>et</a:t>
            </a:r>
            <a:r>
              <a:rPr lang="ru-RU" sz="2700" b="1" dirty="0"/>
              <a:t> </a:t>
            </a:r>
            <a:r>
              <a:rPr lang="ru-RU" sz="2700" b="1" dirty="0" err="1"/>
              <a:t>al</a:t>
            </a:r>
            <a:r>
              <a:rPr lang="ru-RU" sz="2700" b="1" dirty="0"/>
              <a:t>.)</a:t>
            </a:r>
            <a:endParaRPr lang="ru-RU" altLang="en-US" sz="27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83128" y="1570606"/>
            <a:ext cx="12108872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ru-RU" sz="2800" b="1" dirty="0"/>
              <a:t>Идея:</a:t>
            </a:r>
            <a:r>
              <a:rPr lang="ru-RU" sz="2800" dirty="0"/>
              <a:t> </a:t>
            </a:r>
            <a:endParaRPr lang="ru-RU" sz="2800" dirty="0" smtClean="0"/>
          </a:p>
          <a:p>
            <a:pPr lvl="0"/>
            <a:r>
              <a:rPr lang="ru-RU" sz="2800" dirty="0"/>
              <a:t>	</a:t>
            </a:r>
            <a:r>
              <a:rPr lang="ru-RU" sz="2400" dirty="0" smtClean="0"/>
              <a:t>Передача </a:t>
            </a:r>
            <a:r>
              <a:rPr lang="ru-RU" sz="2400" dirty="0"/>
              <a:t>«темных знаний» (</a:t>
            </a:r>
            <a:r>
              <a:rPr lang="ru-RU" sz="2400" dirty="0" err="1"/>
              <a:t>dark</a:t>
            </a:r>
            <a:r>
              <a:rPr lang="ru-RU" sz="2400" dirty="0"/>
              <a:t> </a:t>
            </a:r>
            <a:r>
              <a:rPr lang="ru-RU" sz="2400" dirty="0" err="1"/>
              <a:t>knowledge</a:t>
            </a:r>
            <a:r>
              <a:rPr lang="ru-RU" sz="2400" dirty="0"/>
              <a:t>) от большой модели-«учителя» к компактной модели-«ученику».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ru-RU" sz="2800" b="1" dirty="0" smtClean="0"/>
              <a:t>Механизм:</a:t>
            </a:r>
            <a:endParaRPr lang="ru-RU" sz="2800" dirty="0"/>
          </a:p>
          <a:p>
            <a:r>
              <a:rPr lang="ru-RU" sz="2800" dirty="0"/>
              <a:t>	</a:t>
            </a:r>
            <a:r>
              <a:rPr lang="ru-RU" sz="2400" dirty="0" smtClean="0"/>
              <a:t>Ученик </a:t>
            </a:r>
            <a:r>
              <a:rPr lang="ru-RU" sz="2400" dirty="0"/>
              <a:t>учится имитировать не только правильный ответ, но и все </a:t>
            </a:r>
            <a:r>
              <a:rPr lang="ru-RU" sz="2400" b="1" dirty="0"/>
              <a:t>«мягкое» распределение вероятностей</a:t>
            </a:r>
            <a:r>
              <a:rPr lang="ru-RU" sz="2400" dirty="0"/>
              <a:t> учителя.</a:t>
            </a:r>
          </a:p>
          <a:p>
            <a:pPr lvl="1"/>
            <a:r>
              <a:rPr lang="ru-RU" sz="2400" dirty="0"/>
              <a:t>	</a:t>
            </a:r>
            <a:r>
              <a:rPr lang="ru-RU" sz="2400" dirty="0" smtClean="0"/>
              <a:t>Используется </a:t>
            </a:r>
            <a:r>
              <a:rPr lang="ru-RU" sz="2400" b="1" dirty="0"/>
              <a:t>температурный параметр </a:t>
            </a:r>
            <a:r>
              <a:rPr lang="ru-RU" sz="2400" dirty="0" smtClean="0"/>
              <a:t>для </a:t>
            </a:r>
            <a:r>
              <a:rPr lang="ru-RU" sz="2400" dirty="0"/>
              <a:t>сглаживания распределения.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ru-RU" sz="2800" b="1" dirty="0"/>
              <a:t>Результат:</a:t>
            </a:r>
            <a:r>
              <a:rPr lang="ru-RU" sz="2800" dirty="0"/>
              <a:t> </a:t>
            </a:r>
            <a:endParaRPr lang="ru-RU" sz="2800" dirty="0" smtClean="0"/>
          </a:p>
          <a:p>
            <a:pPr lvl="0"/>
            <a:r>
              <a:rPr lang="ru-RU" sz="2800" dirty="0"/>
              <a:t>	</a:t>
            </a:r>
            <a:r>
              <a:rPr lang="ru-RU" sz="2400" dirty="0" smtClean="0"/>
              <a:t>Ученик </a:t>
            </a:r>
            <a:r>
              <a:rPr lang="ru-RU" sz="2400" dirty="0"/>
              <a:t>достигает высокой точности при значительно меньшем размере, перенимая обобщающую способность учителя.</a:t>
            </a:r>
          </a:p>
          <a:p>
            <a:endParaRPr lang="ru-RU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>
            <a:spLocks noGrp="1"/>
          </p:cNvSpPr>
          <p:nvPr>
            <p:ph type="title"/>
          </p:nvPr>
        </p:nvSpPr>
        <p:spPr>
          <a:xfrm>
            <a:off x="3518611" y="176988"/>
            <a:ext cx="8612087" cy="5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lnSpc>
                <a:spcPct val="100000"/>
              </a:lnSpc>
              <a:buClr>
                <a:schemeClr val="dk1"/>
              </a:buClr>
              <a:buSzPct val="58000"/>
            </a:pPr>
            <a:r>
              <a:rPr lang="ru-RU" sz="1500" dirty="0">
                <a:sym typeface="+mn-ea"/>
              </a:rPr>
              <a:t>СОВРЕМЕННЫЕ ИНФОРМАЦИОННЫЕ ТЕХНОЛОГИИ ДИСТИЛЛЯЦИИ ЗНАНИЙ НЕЙРОННЫХ СЕТЕЙ ДЛЯ ПОВЫШЕНИЯ ИХ ЭФФЕКТИВНОСТИ И ПРОИЗВОДИТЕЛЬНОСТИ</a:t>
            </a:r>
            <a:endParaRPr lang="ru-RU" sz="1500" b="1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523125" y="6456550"/>
            <a:ext cx="3608100" cy="8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dirty="0" smtClean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Карпенко Д.С. </a:t>
            </a:r>
            <a:r>
              <a:rPr lang="ru-RU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Реферат 202</a:t>
            </a:r>
            <a:r>
              <a:rPr lang="en-US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5</a:t>
            </a:r>
            <a:endParaRPr dirty="0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" name="Текстовое поле 1"/>
          <p:cNvSpPr txBox="1"/>
          <p:nvPr/>
        </p:nvSpPr>
        <p:spPr>
          <a:xfrm>
            <a:off x="4532947" y="6483770"/>
            <a:ext cx="364871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fld id="{7D70D24E-22A2-4EF2-89C4-76EE51D78FF1}" type="slidenum">
              <a:rPr lang="ru-RU" sz="2000" b="0" strike="noStrike" spc="-1">
                <a:solidFill>
                  <a:schemeClr val="bg1"/>
                </a:solidFill>
                <a:latin typeface="Times New Roman" panose="02020603050405020304"/>
              </a:rPr>
              <a:t>7</a:t>
            </a:fld>
            <a:endParaRPr lang="ru-RU" altLang="en-US" sz="2000" b="0" strike="noStrike" spc="-1">
              <a:solidFill>
                <a:schemeClr val="bg1"/>
              </a:solidFill>
              <a:latin typeface="Times New Roman" panose="02020603050405020304"/>
            </a:endParaRPr>
          </a:p>
        </p:txBody>
      </p:sp>
      <p:sp>
        <p:nvSpPr>
          <p:cNvPr id="5" name="Управляющая кнопка: домашняя 4">
            <a:hlinkClick r:id="rId3" action="ppaction://hlinksldjump"/>
          </p:cNvPr>
          <p:cNvSpPr/>
          <p:nvPr/>
        </p:nvSpPr>
        <p:spPr>
          <a:xfrm>
            <a:off x="5768340" y="5691505"/>
            <a:ext cx="1178560" cy="628015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/>
          </a:p>
        </p:txBody>
      </p:sp>
      <p:sp>
        <p:nvSpPr>
          <p:cNvPr id="6" name="Управляющая кнопка: далее 5">
            <a:hlinkClick r:id="" action="ppaction://hlinkshowjump?jump=nextslide"/>
          </p:cNvPr>
          <p:cNvSpPr/>
          <p:nvPr/>
        </p:nvSpPr>
        <p:spPr>
          <a:xfrm>
            <a:off x="7365365" y="5691505"/>
            <a:ext cx="1178560" cy="628015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/>
          </a:p>
        </p:txBody>
      </p:sp>
      <p:sp>
        <p:nvSpPr>
          <p:cNvPr id="7" name="Управляющая кнопка: назад 6">
            <a:hlinkClick r:id="" action="ppaction://hlinkshowjump?jump=previousslide"/>
          </p:cNvPr>
          <p:cNvSpPr/>
          <p:nvPr/>
        </p:nvSpPr>
        <p:spPr>
          <a:xfrm>
            <a:off x="4195445" y="5691505"/>
            <a:ext cx="1178560" cy="628015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/>
          </a:p>
        </p:txBody>
      </p:sp>
      <p:sp>
        <p:nvSpPr>
          <p:cNvPr id="3" name="Текстовое поле 2"/>
          <p:cNvSpPr txBox="1"/>
          <p:nvPr/>
        </p:nvSpPr>
        <p:spPr>
          <a:xfrm>
            <a:off x="523240" y="897890"/>
            <a:ext cx="1166876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endParaRPr lang="ru-RU" altLang="en-US" sz="2800"/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522605" y="898525"/>
            <a:ext cx="11669395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ru-RU" sz="3200" b="1" dirty="0"/>
              <a:t>Методы дистилляции знаний. Компрессия (</a:t>
            </a:r>
            <a:r>
              <a:rPr lang="ru-RU" sz="3200" b="1" dirty="0" err="1"/>
              <a:t>DistilBERT</a:t>
            </a:r>
            <a:r>
              <a:rPr lang="ru-RU" sz="3200" b="1" dirty="0"/>
              <a:t>)</a:t>
            </a:r>
            <a:endParaRPr lang="ru-RU" altLang="en-US" sz="3200" b="1" dirty="0"/>
          </a:p>
        </p:txBody>
      </p:sp>
      <p:sp>
        <p:nvSpPr>
          <p:cNvPr id="9" name="TextBox 8"/>
          <p:cNvSpPr txBox="1"/>
          <p:nvPr/>
        </p:nvSpPr>
        <p:spPr>
          <a:xfrm>
            <a:off x="64655" y="1538353"/>
            <a:ext cx="1206604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ru-RU" sz="2800" b="1" dirty="0"/>
              <a:t>Цель:</a:t>
            </a:r>
            <a:r>
              <a:rPr lang="ru-RU" sz="2800" dirty="0"/>
              <a:t> </a:t>
            </a:r>
            <a:endParaRPr lang="ru-RU" sz="2800" dirty="0" smtClean="0"/>
          </a:p>
          <a:p>
            <a:pPr lvl="0"/>
            <a:r>
              <a:rPr lang="ru-RU" sz="2800" dirty="0"/>
              <a:t>	</a:t>
            </a:r>
            <a:r>
              <a:rPr lang="ru-RU" sz="2400" dirty="0" smtClean="0"/>
              <a:t>Создание </a:t>
            </a:r>
            <a:r>
              <a:rPr lang="ru-RU" sz="2400" dirty="0"/>
              <a:t>уменьшенной, быстрой и легкой версии BERT.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ru-RU" sz="2800" b="1" dirty="0"/>
              <a:t>Метод:</a:t>
            </a:r>
            <a:endParaRPr lang="ru-RU" sz="2800" dirty="0"/>
          </a:p>
          <a:p>
            <a:pPr lvl="1"/>
            <a:r>
              <a:rPr lang="ru-RU" sz="2800" dirty="0" smtClean="0"/>
              <a:t>	</a:t>
            </a:r>
            <a:r>
              <a:rPr lang="ru-RU" sz="2400" dirty="0" smtClean="0"/>
              <a:t>Упрощение </a:t>
            </a:r>
            <a:r>
              <a:rPr lang="ru-RU" sz="2400" dirty="0"/>
              <a:t>архитектуры (в 2 раза меньше слоев).</a:t>
            </a:r>
          </a:p>
          <a:p>
            <a:pPr lvl="1"/>
            <a:r>
              <a:rPr lang="ru-RU" sz="2400" b="1" dirty="0" smtClean="0"/>
              <a:t>	Триплетная </a:t>
            </a:r>
            <a:r>
              <a:rPr lang="ru-RU" sz="2400" b="1" dirty="0"/>
              <a:t>функция потерь:</a:t>
            </a:r>
            <a:endParaRPr lang="ru-RU" sz="2400" dirty="0"/>
          </a:p>
          <a:p>
            <a:pPr lvl="2"/>
            <a:r>
              <a:rPr lang="ru-RU" sz="2400" b="1" dirty="0" smtClean="0"/>
              <a:t>		1. </a:t>
            </a:r>
            <a:r>
              <a:rPr lang="ru-RU" sz="2400" b="1" dirty="0" err="1" smtClean="0"/>
              <a:t>Distillation</a:t>
            </a:r>
            <a:r>
              <a:rPr lang="ru-RU" sz="2400" b="1" dirty="0" smtClean="0"/>
              <a:t> </a:t>
            </a:r>
            <a:r>
              <a:rPr lang="ru-RU" sz="2400" b="1" dirty="0" err="1"/>
              <a:t>loss</a:t>
            </a:r>
            <a:r>
              <a:rPr lang="ru-RU" sz="2400" dirty="0"/>
              <a:t> (мягкие метки учителя).</a:t>
            </a:r>
          </a:p>
          <a:p>
            <a:pPr lvl="2"/>
            <a:r>
              <a:rPr lang="ru-RU" sz="2400" b="1" dirty="0" smtClean="0"/>
              <a:t>		2. </a:t>
            </a:r>
            <a:r>
              <a:rPr lang="ru-RU" sz="2400" b="1" dirty="0" err="1" smtClean="0"/>
              <a:t>Masked</a:t>
            </a:r>
            <a:r>
              <a:rPr lang="ru-RU" sz="2400" b="1" dirty="0" smtClean="0"/>
              <a:t> </a:t>
            </a:r>
            <a:r>
              <a:rPr lang="ru-RU" sz="2400" b="1" dirty="0" err="1"/>
              <a:t>language</a:t>
            </a:r>
            <a:r>
              <a:rPr lang="ru-RU" sz="2400" b="1" dirty="0"/>
              <a:t> </a:t>
            </a:r>
            <a:r>
              <a:rPr lang="ru-RU" sz="2400" b="1" dirty="0" err="1"/>
              <a:t>modeling</a:t>
            </a:r>
            <a:r>
              <a:rPr lang="ru-RU" sz="2400" b="1" dirty="0"/>
              <a:t> </a:t>
            </a:r>
            <a:r>
              <a:rPr lang="ru-RU" sz="2400" b="1" dirty="0" err="1"/>
              <a:t>loss</a:t>
            </a:r>
            <a:r>
              <a:rPr lang="ru-RU" sz="2400" dirty="0"/>
              <a:t> </a:t>
            </a:r>
            <a:r>
              <a:rPr lang="ru-RU" sz="2400" dirty="0" smtClean="0"/>
              <a:t>(языковое моделирование).</a:t>
            </a:r>
            <a:endParaRPr lang="ru-RU" sz="2400" dirty="0"/>
          </a:p>
          <a:p>
            <a:pPr lvl="2"/>
            <a:r>
              <a:rPr lang="ru-RU" sz="2400" b="1" dirty="0" smtClean="0"/>
              <a:t>		3. </a:t>
            </a:r>
            <a:r>
              <a:rPr lang="ru-RU" sz="2400" b="1" dirty="0" err="1" smtClean="0"/>
              <a:t>Cosine</a:t>
            </a:r>
            <a:r>
              <a:rPr lang="ru-RU" sz="2400" b="1" dirty="0" smtClean="0"/>
              <a:t> </a:t>
            </a:r>
            <a:r>
              <a:rPr lang="ru-RU" sz="2400" b="1" dirty="0" err="1"/>
              <a:t>embedding</a:t>
            </a:r>
            <a:r>
              <a:rPr lang="ru-RU" sz="2400" b="1" dirty="0"/>
              <a:t> </a:t>
            </a:r>
            <a:r>
              <a:rPr lang="ru-RU" sz="2400" b="1" dirty="0" err="1"/>
              <a:t>loss</a:t>
            </a:r>
            <a:r>
              <a:rPr lang="ru-RU" sz="2400" dirty="0"/>
              <a:t> (выравнивание скрытых </a:t>
            </a:r>
            <a:r>
              <a:rPr lang="ru-RU" sz="2400" dirty="0" smtClean="0"/>
              <a:t>состояний</a:t>
            </a:r>
            <a:r>
              <a:rPr lang="ru-RU" sz="2400" dirty="0"/>
              <a:t>).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ru-RU" sz="2800" b="1" dirty="0"/>
              <a:t>Результат</a:t>
            </a:r>
            <a:r>
              <a:rPr lang="ru-RU" sz="2800" b="1" dirty="0" smtClean="0"/>
              <a:t>:</a:t>
            </a:r>
            <a:r>
              <a:rPr lang="ru-RU" sz="2800" dirty="0"/>
              <a:t> </a:t>
            </a:r>
            <a:r>
              <a:rPr lang="ru-RU" sz="2400" dirty="0" smtClean="0"/>
              <a:t>-</a:t>
            </a:r>
            <a:r>
              <a:rPr lang="ru-RU" sz="2400" dirty="0"/>
              <a:t>40% параметров, +60% скорость, сохранение 97% производительности BERT.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>
            <a:spLocks noGrp="1"/>
          </p:cNvSpPr>
          <p:nvPr>
            <p:ph type="title"/>
          </p:nvPr>
        </p:nvSpPr>
        <p:spPr>
          <a:xfrm>
            <a:off x="3518611" y="176988"/>
            <a:ext cx="8612087" cy="5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lnSpc>
                <a:spcPct val="100000"/>
              </a:lnSpc>
              <a:buClr>
                <a:schemeClr val="dk1"/>
              </a:buClr>
              <a:buSzPct val="58000"/>
            </a:pPr>
            <a:r>
              <a:rPr lang="ru-RU" sz="1500" dirty="0">
                <a:sym typeface="+mn-ea"/>
              </a:rPr>
              <a:t>СОВРЕМЕННЫЕ ИНФОРМАЦИОННЫЕ ТЕХНОЛОГИИ ДИСТИЛЛЯЦИИ ЗНАНИЙ НЕЙРОННЫХ СЕТЕЙ ДЛЯ ПОВЫШЕНИЯ ИХ ЭФФЕКТИВНОСТИ И ПРОИЗВОДИТЕЛЬНОСТИ</a:t>
            </a:r>
            <a:endParaRPr lang="ru-RU" sz="1500" b="1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523125" y="6456550"/>
            <a:ext cx="3608100" cy="8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dirty="0" smtClean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Карпенко Д.С. </a:t>
            </a:r>
            <a:r>
              <a:rPr lang="ru-RU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Реферат 202</a:t>
            </a:r>
            <a:r>
              <a:rPr lang="en-US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5</a:t>
            </a:r>
            <a:endParaRPr dirty="0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" name="Текстовое поле 1"/>
          <p:cNvSpPr txBox="1"/>
          <p:nvPr/>
        </p:nvSpPr>
        <p:spPr>
          <a:xfrm>
            <a:off x="3683374" y="6481445"/>
            <a:ext cx="534785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fld id="{7D70D24E-22A2-4EF2-89C4-76EE51D78FF1}" type="slidenum">
              <a:rPr lang="ru-RU" sz="2000" b="0" strike="noStrike" spc="-1">
                <a:solidFill>
                  <a:schemeClr val="bg1"/>
                </a:solidFill>
                <a:latin typeface="Times New Roman" panose="02020603050405020304"/>
              </a:rPr>
              <a:t>8</a:t>
            </a:fld>
            <a:endParaRPr lang="ru-RU" altLang="en-US" sz="2000" b="0" strike="noStrike" spc="-1">
              <a:solidFill>
                <a:schemeClr val="bg1"/>
              </a:solidFill>
              <a:latin typeface="Times New Roman" panose="02020603050405020304"/>
            </a:endParaRPr>
          </a:p>
        </p:txBody>
      </p:sp>
      <p:sp>
        <p:nvSpPr>
          <p:cNvPr id="5" name="Управляющая кнопка: домашняя 4">
            <a:hlinkClick r:id="rId3" action="ppaction://hlinksldjump"/>
          </p:cNvPr>
          <p:cNvSpPr/>
          <p:nvPr/>
        </p:nvSpPr>
        <p:spPr>
          <a:xfrm>
            <a:off x="5768340" y="5691505"/>
            <a:ext cx="1178560" cy="628015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/>
          </a:p>
        </p:txBody>
      </p:sp>
      <p:sp>
        <p:nvSpPr>
          <p:cNvPr id="6" name="Управляющая кнопка: далее 5">
            <a:hlinkClick r:id="" action="ppaction://hlinkshowjump?jump=nextslide"/>
          </p:cNvPr>
          <p:cNvSpPr/>
          <p:nvPr/>
        </p:nvSpPr>
        <p:spPr>
          <a:xfrm>
            <a:off x="7365365" y="5691505"/>
            <a:ext cx="1178560" cy="628015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/>
          </a:p>
        </p:txBody>
      </p:sp>
      <p:sp>
        <p:nvSpPr>
          <p:cNvPr id="7" name="Управляющая кнопка: назад 6">
            <a:hlinkClick r:id="" action="ppaction://hlinkshowjump?jump=previousslide"/>
          </p:cNvPr>
          <p:cNvSpPr/>
          <p:nvPr/>
        </p:nvSpPr>
        <p:spPr>
          <a:xfrm>
            <a:off x="4195445" y="5691505"/>
            <a:ext cx="1178560" cy="628015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/>
          </a:p>
        </p:txBody>
      </p:sp>
      <p:sp>
        <p:nvSpPr>
          <p:cNvPr id="3" name="Текстовое поле 2"/>
          <p:cNvSpPr txBox="1"/>
          <p:nvPr/>
        </p:nvSpPr>
        <p:spPr>
          <a:xfrm>
            <a:off x="523240" y="897890"/>
            <a:ext cx="1166876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endParaRPr lang="ru-RU" altLang="en-US" sz="2800"/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522605" y="898525"/>
            <a:ext cx="11669395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ru-RU" sz="3200" b="1" dirty="0"/>
              <a:t>Методы дистилляции знаний. Передача внимания (AT)</a:t>
            </a:r>
            <a:endParaRPr lang="ru-RU" sz="3200" dirty="0"/>
          </a:p>
        </p:txBody>
      </p:sp>
      <p:sp>
        <p:nvSpPr>
          <p:cNvPr id="9" name="TextBox 8"/>
          <p:cNvSpPr txBox="1"/>
          <p:nvPr/>
        </p:nvSpPr>
        <p:spPr>
          <a:xfrm>
            <a:off x="64655" y="1671782"/>
            <a:ext cx="1212734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ru-RU" sz="2800" b="1" dirty="0"/>
              <a:t>Идея:</a:t>
            </a:r>
            <a:r>
              <a:rPr lang="ru-RU" sz="2800" dirty="0"/>
              <a:t> </a:t>
            </a:r>
            <a:endParaRPr lang="en-US" sz="2800" dirty="0" smtClean="0"/>
          </a:p>
          <a:p>
            <a:pPr lvl="0"/>
            <a:r>
              <a:rPr lang="en-US" sz="2800" dirty="0"/>
              <a:t>	</a:t>
            </a:r>
            <a:r>
              <a:rPr lang="ru-RU" sz="2400" dirty="0" smtClean="0"/>
              <a:t>Ценна </a:t>
            </a:r>
            <a:r>
              <a:rPr lang="ru-RU" sz="2400" dirty="0"/>
              <a:t>не только итоговая вероятность, но и то, </a:t>
            </a:r>
            <a:r>
              <a:rPr lang="ru-RU" sz="2400" b="1" dirty="0"/>
              <a:t>на что модель «смотрит»</a:t>
            </a:r>
            <a:r>
              <a:rPr lang="ru-RU" sz="2400" dirty="0"/>
              <a:t>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ru-RU" sz="2800" b="1" dirty="0"/>
              <a:t>Механизм:</a:t>
            </a:r>
            <a:endParaRPr lang="ru-RU" sz="2800" dirty="0"/>
          </a:p>
          <a:p>
            <a:pPr lvl="1"/>
            <a:r>
              <a:rPr lang="ru-RU" sz="2800" dirty="0" smtClean="0"/>
              <a:t>	</a:t>
            </a:r>
            <a:r>
              <a:rPr lang="ru-RU" sz="2400" dirty="0" smtClean="0"/>
              <a:t>Ученик </a:t>
            </a:r>
            <a:r>
              <a:rPr lang="ru-RU" sz="2400" dirty="0"/>
              <a:t>учится имитировать </a:t>
            </a:r>
            <a:r>
              <a:rPr lang="ru-RU" sz="2400" b="1" dirty="0"/>
              <a:t>карты внимания</a:t>
            </a:r>
            <a:r>
              <a:rPr lang="ru-RU" sz="2400" dirty="0"/>
              <a:t> учителя.</a:t>
            </a:r>
          </a:p>
          <a:p>
            <a:pPr lvl="1"/>
            <a:r>
              <a:rPr lang="ru-RU" sz="2400" dirty="0" smtClean="0"/>
              <a:t>	Карты </a:t>
            </a:r>
            <a:r>
              <a:rPr lang="ru-RU" sz="2400" dirty="0"/>
              <a:t>внимания показывают важные области входных </a:t>
            </a:r>
            <a:r>
              <a:rPr lang="ru-RU" sz="2400" dirty="0" smtClean="0"/>
              <a:t>данных.</a:t>
            </a:r>
            <a:endParaRPr lang="ru-RU" sz="2400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ru-RU" sz="2800" b="1" dirty="0"/>
              <a:t>Результат:</a:t>
            </a:r>
            <a:endParaRPr lang="ru-RU" sz="2800" dirty="0"/>
          </a:p>
          <a:p>
            <a:pPr lvl="1"/>
            <a:r>
              <a:rPr lang="en-US" sz="2800" dirty="0" smtClean="0"/>
              <a:t>	</a:t>
            </a:r>
            <a:r>
              <a:rPr lang="ru-RU" sz="2400" dirty="0" smtClean="0"/>
              <a:t>Значительное </a:t>
            </a:r>
            <a:r>
              <a:rPr lang="ru-RU" sz="2400" dirty="0"/>
              <a:t>улучшение производительности в </a:t>
            </a:r>
            <a:r>
              <a:rPr lang="en-US" sz="2400" dirty="0" smtClean="0"/>
              <a:t>CV</a:t>
            </a:r>
            <a:r>
              <a:rPr lang="ru-RU" sz="2400" dirty="0" smtClean="0"/>
              <a:t>.</a:t>
            </a:r>
            <a:endParaRPr lang="ru-RU" sz="2400" dirty="0"/>
          </a:p>
          <a:p>
            <a:r>
              <a:rPr lang="en-US" sz="2400" dirty="0" smtClean="0"/>
              <a:t>	</a:t>
            </a:r>
            <a:r>
              <a:rPr lang="ru-RU" sz="2400" dirty="0" smtClean="0"/>
              <a:t>AT </a:t>
            </a:r>
            <a:r>
              <a:rPr lang="ru-RU" sz="2400" dirty="0"/>
              <a:t>и классическая KD — комплементарные методы.</a:t>
            </a:r>
            <a:endParaRPr lang="ru-RU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>
            <a:spLocks noGrp="1"/>
          </p:cNvSpPr>
          <p:nvPr>
            <p:ph type="title"/>
          </p:nvPr>
        </p:nvSpPr>
        <p:spPr>
          <a:xfrm>
            <a:off x="3518611" y="176988"/>
            <a:ext cx="8612087" cy="5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lnSpc>
                <a:spcPct val="100000"/>
              </a:lnSpc>
              <a:buClr>
                <a:schemeClr val="dk1"/>
              </a:buClr>
              <a:buSzPct val="58000"/>
            </a:pPr>
            <a:r>
              <a:rPr lang="ru-RU" sz="1500" dirty="0">
                <a:sym typeface="+mn-ea"/>
              </a:rPr>
              <a:t>СОВРЕМЕННЫЕ ИНФОРМАЦИОННЫЕ ТЕХНОЛОГИИ ДИСТИЛЛЯЦИИ ЗНАНИЙ НЕЙРОННЫХ СЕТЕЙ ДЛЯ ПОВЫШЕНИЯ ИХ ЭФФЕКТИВНОСТИ И ПРОИЗВОДИТЕЛЬНОСТИ</a:t>
            </a:r>
            <a:endParaRPr lang="ru-RU" sz="1500" b="1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430325" y="6006000"/>
            <a:ext cx="3608100" cy="8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Бекетов Д. Д. роект 2023</a:t>
            </a:r>
            <a:endParaRPr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523125" y="6456550"/>
            <a:ext cx="3608100" cy="8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dirty="0" smtClean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Карпенко Д.С. </a:t>
            </a:r>
            <a:r>
              <a:rPr lang="ru-RU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Реферат 202</a:t>
            </a:r>
            <a:r>
              <a:rPr lang="en-US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5</a:t>
            </a:r>
            <a:endParaRPr dirty="0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" name="Текстовое поле 1"/>
          <p:cNvSpPr txBox="1"/>
          <p:nvPr/>
        </p:nvSpPr>
        <p:spPr>
          <a:xfrm>
            <a:off x="4177202" y="6483770"/>
            <a:ext cx="4360199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fld id="{7D70D24E-22A2-4EF2-89C4-76EE51D78FF1}" type="slidenum">
              <a:rPr lang="ru-RU" sz="2000" b="0" strike="noStrike" spc="-1">
                <a:solidFill>
                  <a:schemeClr val="bg1"/>
                </a:solidFill>
                <a:latin typeface="Times New Roman" panose="02020603050405020304"/>
              </a:rPr>
              <a:t>9</a:t>
            </a:fld>
            <a:endParaRPr lang="ru-RU" altLang="en-US" sz="2000" b="0" strike="noStrike" spc="-1">
              <a:solidFill>
                <a:schemeClr val="bg1"/>
              </a:solidFill>
              <a:latin typeface="Times New Roman" panose="02020603050405020304"/>
            </a:endParaRPr>
          </a:p>
        </p:txBody>
      </p:sp>
      <p:sp>
        <p:nvSpPr>
          <p:cNvPr id="5" name="Управляющая кнопка: домашняя 4">
            <a:hlinkClick r:id="rId3" action="ppaction://hlinksldjump"/>
          </p:cNvPr>
          <p:cNvSpPr/>
          <p:nvPr/>
        </p:nvSpPr>
        <p:spPr>
          <a:xfrm>
            <a:off x="5768340" y="5691505"/>
            <a:ext cx="1178560" cy="628015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/>
          </a:p>
        </p:txBody>
      </p:sp>
      <p:sp>
        <p:nvSpPr>
          <p:cNvPr id="6" name="Управляющая кнопка: далее 5">
            <a:hlinkClick r:id="" action="ppaction://hlinkshowjump?jump=nextslide"/>
          </p:cNvPr>
          <p:cNvSpPr/>
          <p:nvPr/>
        </p:nvSpPr>
        <p:spPr>
          <a:xfrm>
            <a:off x="7365365" y="5691505"/>
            <a:ext cx="1178560" cy="628015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/>
          </a:p>
        </p:txBody>
      </p:sp>
      <p:sp>
        <p:nvSpPr>
          <p:cNvPr id="7" name="Управляющая кнопка: назад 6">
            <a:hlinkClick r:id="" action="ppaction://hlinkshowjump?jump=previousslide"/>
          </p:cNvPr>
          <p:cNvSpPr/>
          <p:nvPr/>
        </p:nvSpPr>
        <p:spPr>
          <a:xfrm>
            <a:off x="4195445" y="5691505"/>
            <a:ext cx="1178560" cy="628015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/>
          </a:p>
        </p:txBody>
      </p:sp>
      <p:sp>
        <p:nvSpPr>
          <p:cNvPr id="3" name="Текстовое поле 2"/>
          <p:cNvSpPr txBox="1"/>
          <p:nvPr/>
        </p:nvSpPr>
        <p:spPr>
          <a:xfrm>
            <a:off x="523240" y="897890"/>
            <a:ext cx="1166876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endParaRPr lang="ru-RU" altLang="en-US" sz="2800"/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-83127" y="897890"/>
            <a:ext cx="12349017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ru-RU" sz="2800" b="1" dirty="0"/>
              <a:t>Методы дистилляции знаний. Адаптация для </a:t>
            </a:r>
            <a:r>
              <a:rPr lang="ru-RU" sz="2800" b="1" dirty="0" err="1" smtClean="0"/>
              <a:t>трансформеров</a:t>
            </a:r>
            <a:r>
              <a:rPr lang="en-US" sz="2800" b="1" dirty="0"/>
              <a:t> </a:t>
            </a:r>
            <a:r>
              <a:rPr lang="ru-RU" sz="2800" b="1" dirty="0" smtClean="0"/>
              <a:t>(</a:t>
            </a:r>
            <a:r>
              <a:rPr lang="ru-RU" sz="2800" b="1" dirty="0" err="1" smtClean="0"/>
              <a:t>DeiT</a:t>
            </a:r>
            <a:r>
              <a:rPr lang="ru-RU" sz="2800" b="1" dirty="0"/>
              <a:t>)</a:t>
            </a:r>
            <a:endParaRPr lang="ru-RU" altLang="en-US" sz="2800" b="1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0" y="1384887"/>
            <a:ext cx="12192000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2800" b="1" dirty="0"/>
              <a:t>Проблема:</a:t>
            </a:r>
            <a:r>
              <a:rPr lang="ru-RU" sz="2800" dirty="0"/>
              <a:t> </a:t>
            </a:r>
            <a:endParaRPr lang="en-US" sz="2800" dirty="0" smtClean="0"/>
          </a:p>
          <a:p>
            <a:pPr lvl="0"/>
            <a:r>
              <a:rPr lang="en-US" sz="2800" dirty="0"/>
              <a:t>	</a:t>
            </a:r>
            <a:r>
              <a:rPr lang="ru-RU" sz="2400" dirty="0" err="1" smtClean="0"/>
              <a:t>Трансформеры</a:t>
            </a:r>
            <a:r>
              <a:rPr lang="ru-RU" sz="2400" dirty="0" smtClean="0"/>
              <a:t> </a:t>
            </a:r>
            <a:r>
              <a:rPr lang="ru-RU" sz="2400" dirty="0"/>
              <a:t>(</a:t>
            </a:r>
            <a:r>
              <a:rPr lang="ru-RU" sz="2400" dirty="0" err="1"/>
              <a:t>ViT</a:t>
            </a:r>
            <a:r>
              <a:rPr lang="ru-RU" sz="2400" dirty="0"/>
              <a:t>) не имеют индуктивных смещений CNN и требуют много </a:t>
            </a:r>
            <a:r>
              <a:rPr lang="en-US" sz="2400" dirty="0" smtClean="0"/>
              <a:t>	</a:t>
            </a:r>
            <a:r>
              <a:rPr lang="ru-RU" sz="2400" dirty="0" smtClean="0"/>
              <a:t>данных</a:t>
            </a:r>
            <a:r>
              <a:rPr lang="ru-RU" sz="2400" dirty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2800" b="1" dirty="0"/>
              <a:t>Решение: Дистилляционный </a:t>
            </a:r>
            <a:r>
              <a:rPr lang="ru-RU" sz="2800" b="1" dirty="0" err="1"/>
              <a:t>токен</a:t>
            </a:r>
            <a:r>
              <a:rPr lang="ru-RU" sz="2800" b="1" dirty="0"/>
              <a:t>.</a:t>
            </a:r>
            <a:endParaRPr lang="ru-RU" sz="2800" dirty="0"/>
          </a:p>
          <a:p>
            <a:pPr lvl="1"/>
            <a:r>
              <a:rPr lang="en-US" sz="2800" dirty="0" smtClean="0"/>
              <a:t>	</a:t>
            </a:r>
            <a:r>
              <a:rPr lang="ru-RU" sz="2400" dirty="0" smtClean="0"/>
              <a:t>Специальный </a:t>
            </a:r>
            <a:r>
              <a:rPr lang="ru-RU" sz="2400" dirty="0" err="1"/>
              <a:t>токен</a:t>
            </a:r>
            <a:r>
              <a:rPr lang="ru-RU" sz="2400" dirty="0"/>
              <a:t>, который взаимодействует с другими </a:t>
            </a:r>
            <a:r>
              <a:rPr lang="ru-RU" sz="2400" dirty="0" err="1"/>
              <a:t>токенами</a:t>
            </a:r>
            <a:r>
              <a:rPr lang="ru-RU" sz="2400" dirty="0"/>
              <a:t> и </a:t>
            </a:r>
            <a:r>
              <a:rPr lang="en-US" sz="2400" dirty="0" smtClean="0"/>
              <a:t>			</a:t>
            </a:r>
            <a:r>
              <a:rPr lang="ru-RU" sz="2400" dirty="0" smtClean="0"/>
              <a:t>обучается </a:t>
            </a:r>
            <a:r>
              <a:rPr lang="ru-RU" sz="2400" dirty="0"/>
              <a:t>предсказывать выход учителя.</a:t>
            </a:r>
          </a:p>
          <a:p>
            <a:pPr lvl="1"/>
            <a:r>
              <a:rPr lang="en-US" sz="2400" dirty="0" smtClean="0"/>
              <a:t>	</a:t>
            </a:r>
            <a:r>
              <a:rPr lang="ru-RU" sz="2400" dirty="0" smtClean="0"/>
              <a:t>Учителем </a:t>
            </a:r>
            <a:r>
              <a:rPr lang="ru-RU" sz="2400" dirty="0"/>
              <a:t>часто выступает </a:t>
            </a:r>
            <a:r>
              <a:rPr lang="ru-RU" sz="2400" b="1" dirty="0"/>
              <a:t>CNN</a:t>
            </a:r>
            <a:r>
              <a:rPr lang="ru-RU" sz="2400" dirty="0"/>
              <a:t>, передающая полезные для зрения </a:t>
            </a:r>
            <a:r>
              <a:rPr lang="en-US" sz="2400" dirty="0" smtClean="0"/>
              <a:t>	</a:t>
            </a:r>
            <a:r>
              <a:rPr lang="ru-RU" sz="2400" dirty="0" smtClean="0"/>
              <a:t>индуктивные </a:t>
            </a:r>
            <a:r>
              <a:rPr lang="ru-RU" sz="2400" dirty="0"/>
              <a:t>смещения.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2800" b="1" dirty="0"/>
              <a:t>Результат:</a:t>
            </a:r>
            <a:r>
              <a:rPr lang="ru-RU" sz="2800" dirty="0"/>
              <a:t> </a:t>
            </a:r>
            <a:endParaRPr lang="en-US" sz="2800" dirty="0" smtClean="0"/>
          </a:p>
          <a:p>
            <a:pPr lvl="0"/>
            <a:r>
              <a:rPr lang="en-US" sz="2800" dirty="0"/>
              <a:t>	</a:t>
            </a:r>
            <a:r>
              <a:rPr lang="ru-RU" sz="2400" dirty="0" smtClean="0"/>
              <a:t>Конкурентоспособная </a:t>
            </a:r>
            <a:r>
              <a:rPr lang="ru-RU" sz="2400" dirty="0"/>
              <a:t>точность на </a:t>
            </a:r>
            <a:r>
              <a:rPr lang="ru-RU" sz="2400" dirty="0" err="1"/>
              <a:t>ImageNet</a:t>
            </a:r>
            <a:r>
              <a:rPr lang="ru-RU" sz="2400" dirty="0"/>
              <a:t> без </a:t>
            </a:r>
            <a:r>
              <a:rPr lang="ru-RU" sz="2400" dirty="0" err="1"/>
              <a:t>предобучения</a:t>
            </a:r>
            <a:r>
              <a:rPr lang="ru-RU" sz="2400" dirty="0"/>
              <a:t> на огромных </a:t>
            </a:r>
            <a:r>
              <a:rPr lang="en-US" sz="2400" dirty="0" smtClean="0"/>
              <a:t>	</a:t>
            </a:r>
            <a:r>
              <a:rPr lang="ru-RU" sz="2400" dirty="0" smtClean="0"/>
              <a:t>наборах </a:t>
            </a:r>
            <a:r>
              <a:rPr lang="ru-RU" sz="2400" dirty="0"/>
              <a:t>данных.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>
            <a:spLocks noGrp="1"/>
          </p:cNvSpPr>
          <p:nvPr>
            <p:ph type="title"/>
          </p:nvPr>
        </p:nvSpPr>
        <p:spPr>
          <a:xfrm>
            <a:off x="3518611" y="176988"/>
            <a:ext cx="8612087" cy="5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lnSpc>
                <a:spcPct val="100000"/>
              </a:lnSpc>
              <a:buClr>
                <a:schemeClr val="dk1"/>
              </a:buClr>
              <a:buSzPct val="58000"/>
            </a:pPr>
            <a:r>
              <a:rPr lang="ru-RU" sz="1500" dirty="0">
                <a:sym typeface="+mn-ea"/>
              </a:rPr>
              <a:t>СОВРЕМЕННЫЕ ИНФОРМАЦИОННЫЕ ТЕХНОЛОГИИ ДИСТИЛЛЯЦИИ ЗНАНИЙ НЕЙРОННЫХ СЕТЕЙ ДЛЯ ПОВЫШЕНИЯ ИХ ЭФФЕКТИВНОСТИ И ПРОИЗВОДИТЕЛЬНОСТИ</a:t>
            </a:r>
            <a:endParaRPr lang="ru-RU" sz="1500" b="1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430325" y="6006000"/>
            <a:ext cx="3608100" cy="8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Бекетов Д. Д. роект 2023</a:t>
            </a:r>
            <a:endParaRPr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523125" y="6456550"/>
            <a:ext cx="3608100" cy="8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dirty="0" smtClean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Карпенко Д.С. </a:t>
            </a:r>
            <a:r>
              <a:rPr lang="ru-RU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Реферат 202</a:t>
            </a:r>
            <a:r>
              <a:rPr lang="en-US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5</a:t>
            </a:r>
            <a:endParaRPr dirty="0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" name="Текстовое поле 1"/>
          <p:cNvSpPr txBox="1"/>
          <p:nvPr/>
        </p:nvSpPr>
        <p:spPr>
          <a:xfrm>
            <a:off x="3879186" y="6487742"/>
            <a:ext cx="4895908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fld id="{7D70D24E-22A2-4EF2-89C4-76EE51D78FF1}" type="slidenum">
              <a:rPr lang="ru-RU" sz="2000" b="0" strike="noStrike" spc="-1">
                <a:solidFill>
                  <a:schemeClr val="bg1"/>
                </a:solidFill>
                <a:latin typeface="Times New Roman" panose="02020603050405020304"/>
              </a:rPr>
              <a:t>10</a:t>
            </a:fld>
            <a:endParaRPr lang="ru-RU" altLang="en-US" sz="2000" b="0" strike="noStrike" spc="-1">
              <a:solidFill>
                <a:schemeClr val="bg1"/>
              </a:solidFill>
              <a:latin typeface="Times New Roman" panose="02020603050405020304"/>
            </a:endParaRPr>
          </a:p>
        </p:txBody>
      </p:sp>
      <p:sp>
        <p:nvSpPr>
          <p:cNvPr id="5" name="Управляющая кнопка: домашняя 4">
            <a:hlinkClick r:id="rId3" action="ppaction://hlinksldjump"/>
          </p:cNvPr>
          <p:cNvSpPr/>
          <p:nvPr/>
        </p:nvSpPr>
        <p:spPr>
          <a:xfrm>
            <a:off x="5768340" y="5691505"/>
            <a:ext cx="1178560" cy="628015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/>
          </a:p>
        </p:txBody>
      </p:sp>
      <p:sp>
        <p:nvSpPr>
          <p:cNvPr id="6" name="Управляющая кнопка: далее 5">
            <a:hlinkClick r:id="" action="ppaction://hlinkshowjump?jump=nextslide"/>
          </p:cNvPr>
          <p:cNvSpPr/>
          <p:nvPr/>
        </p:nvSpPr>
        <p:spPr>
          <a:xfrm>
            <a:off x="7365365" y="5691505"/>
            <a:ext cx="1178560" cy="628015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/>
          </a:p>
        </p:txBody>
      </p:sp>
      <p:sp>
        <p:nvSpPr>
          <p:cNvPr id="7" name="Управляющая кнопка: назад 6">
            <a:hlinkClick r:id="" action="ppaction://hlinkshowjump?jump=previousslide"/>
          </p:cNvPr>
          <p:cNvSpPr/>
          <p:nvPr/>
        </p:nvSpPr>
        <p:spPr>
          <a:xfrm>
            <a:off x="4195445" y="5691505"/>
            <a:ext cx="1178560" cy="628015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/>
          </a:p>
        </p:txBody>
      </p:sp>
      <p:sp>
        <p:nvSpPr>
          <p:cNvPr id="3" name="Текстовое поле 2"/>
          <p:cNvSpPr txBox="1"/>
          <p:nvPr/>
        </p:nvSpPr>
        <p:spPr>
          <a:xfrm>
            <a:off x="523240" y="897890"/>
            <a:ext cx="1166876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endParaRPr lang="ru-RU" altLang="en-US" sz="2800"/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83127" y="898525"/>
            <a:ext cx="12108873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ru-RU" sz="2800" b="1" dirty="0"/>
              <a:t>Методы дистилляции знаний. Глубокое взаимное обучение (DML)</a:t>
            </a:r>
            <a:endParaRPr lang="ru-RU" sz="2800" dirty="0"/>
          </a:p>
        </p:txBody>
      </p:sp>
      <p:sp>
        <p:nvSpPr>
          <p:cNvPr id="9" name="TextBox 8"/>
          <p:cNvSpPr txBox="1"/>
          <p:nvPr/>
        </p:nvSpPr>
        <p:spPr>
          <a:xfrm>
            <a:off x="0" y="1542473"/>
            <a:ext cx="121920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2800" b="1" dirty="0"/>
              <a:t>Идея:</a:t>
            </a:r>
            <a:r>
              <a:rPr lang="ru-RU" sz="2800" dirty="0"/>
              <a:t> </a:t>
            </a:r>
            <a:endParaRPr lang="en-US" sz="2800" dirty="0" smtClean="0"/>
          </a:p>
          <a:p>
            <a:pPr lvl="0"/>
            <a:r>
              <a:rPr lang="en-US" sz="2800" dirty="0"/>
              <a:t>	</a:t>
            </a:r>
            <a:r>
              <a:rPr lang="ru-RU" sz="2400" dirty="0" smtClean="0"/>
              <a:t>Отказ </a:t>
            </a:r>
            <a:r>
              <a:rPr lang="ru-RU" sz="2400" dirty="0"/>
              <a:t>от асимметричной схемы «учитель-ученик».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2800" b="1" dirty="0"/>
              <a:t>Механизм:</a:t>
            </a:r>
            <a:endParaRPr lang="ru-RU" sz="2800" dirty="0"/>
          </a:p>
          <a:p>
            <a:pPr lvl="1"/>
            <a:r>
              <a:rPr lang="en-US" sz="2800" dirty="0" smtClean="0"/>
              <a:t>	</a:t>
            </a:r>
            <a:r>
              <a:rPr lang="ru-RU" sz="2400" dirty="0" smtClean="0"/>
              <a:t>Группа </a:t>
            </a:r>
            <a:r>
              <a:rPr lang="ru-RU" sz="2400" dirty="0"/>
              <a:t>моделей-студентов обучается </a:t>
            </a:r>
            <a:r>
              <a:rPr lang="ru-RU" sz="2400" b="1" dirty="0"/>
              <a:t>одновременно и </a:t>
            </a:r>
            <a:r>
              <a:rPr lang="ru-RU" sz="2400" b="1" dirty="0" smtClean="0"/>
              <a:t>коллективно</a:t>
            </a:r>
            <a:r>
              <a:rPr lang="ru-RU" sz="2400" dirty="0"/>
              <a:t>.</a:t>
            </a:r>
          </a:p>
          <a:p>
            <a:pPr lvl="1"/>
            <a:r>
              <a:rPr lang="en-US" sz="2400" dirty="0" smtClean="0"/>
              <a:t>	</a:t>
            </a:r>
            <a:r>
              <a:rPr lang="ru-RU" sz="2400" dirty="0" smtClean="0"/>
              <a:t>Каждая </a:t>
            </a:r>
            <a:r>
              <a:rPr lang="ru-RU" sz="2400" dirty="0"/>
              <a:t>модель учится на истинных метках и на распределениях </a:t>
            </a:r>
            <a:r>
              <a:rPr lang="en-US" sz="2400" dirty="0" smtClean="0"/>
              <a:t>	</a:t>
            </a:r>
            <a:r>
              <a:rPr lang="ru-RU" sz="2400" dirty="0" smtClean="0"/>
              <a:t>вероятностей </a:t>
            </a:r>
            <a:r>
              <a:rPr lang="ru-RU" sz="2400" dirty="0"/>
              <a:t>своих «коллег».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2800" b="1" dirty="0"/>
              <a:t>Преимущества:</a:t>
            </a:r>
            <a:endParaRPr lang="ru-RU" sz="2800" dirty="0"/>
          </a:p>
          <a:p>
            <a:pPr lvl="1"/>
            <a:r>
              <a:rPr lang="en-US" sz="2800" dirty="0" smtClean="0"/>
              <a:t>	</a:t>
            </a:r>
            <a:r>
              <a:rPr lang="ru-RU" sz="2400" dirty="0" smtClean="0"/>
              <a:t>Не </a:t>
            </a:r>
            <a:r>
              <a:rPr lang="ru-RU" sz="2400" dirty="0"/>
              <a:t>требует </a:t>
            </a:r>
            <a:r>
              <a:rPr lang="ru-RU" sz="2400" dirty="0" err="1"/>
              <a:t>предобученного</a:t>
            </a:r>
            <a:r>
              <a:rPr lang="ru-RU" sz="2400" dirty="0"/>
              <a:t> учителя.</a:t>
            </a:r>
          </a:p>
          <a:p>
            <a:pPr lvl="1"/>
            <a:r>
              <a:rPr lang="en-US" sz="2400" dirty="0" smtClean="0"/>
              <a:t>	</a:t>
            </a:r>
            <a:r>
              <a:rPr lang="ru-RU" sz="2400" dirty="0" smtClean="0"/>
              <a:t>Улучшает </a:t>
            </a:r>
            <a:r>
              <a:rPr lang="ru-RU" sz="2400" dirty="0"/>
              <a:t>производительность всех моделей в группе.</a:t>
            </a:r>
          </a:p>
          <a:p>
            <a:pPr lvl="1"/>
            <a:r>
              <a:rPr lang="en-US" sz="2400" dirty="0" smtClean="0"/>
              <a:t>	</a:t>
            </a:r>
            <a:r>
              <a:rPr lang="ru-RU" sz="2400" dirty="0" smtClean="0"/>
              <a:t>Действует </a:t>
            </a:r>
            <a:r>
              <a:rPr lang="ru-RU" sz="2400" dirty="0"/>
              <a:t>как мощный </a:t>
            </a:r>
            <a:r>
              <a:rPr lang="ru-RU" sz="2400" dirty="0" err="1"/>
              <a:t>регуляризатор</a:t>
            </a:r>
            <a:r>
              <a:rPr lang="ru-RU" sz="2400" dirty="0" smtClean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>
            <a:spLocks noGrp="1"/>
          </p:cNvSpPr>
          <p:nvPr>
            <p:ph type="title"/>
          </p:nvPr>
        </p:nvSpPr>
        <p:spPr>
          <a:xfrm>
            <a:off x="3518611" y="176988"/>
            <a:ext cx="8612087" cy="5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lnSpc>
                <a:spcPct val="100000"/>
              </a:lnSpc>
              <a:buClr>
                <a:schemeClr val="dk1"/>
              </a:buClr>
              <a:buSzPct val="58000"/>
            </a:pPr>
            <a:r>
              <a:rPr lang="ru-RU" sz="1500" dirty="0">
                <a:sym typeface="+mn-ea"/>
              </a:rPr>
              <a:t>СОВРЕМЕННЫЕ ИНФОРМАЦИОННЫЕ ТЕХНОЛОГИИ ДИСТИЛЛЯЦИИ ЗНАНИЙ НЕЙРОННЫХ СЕТЕЙ ДЛЯ ПОВЫШЕНИЯ ИХ ЭФФЕКТИВНОСТИ И ПРОИЗВОДИТЕЛЬНОСТИ</a:t>
            </a:r>
            <a:endParaRPr lang="ru-RU" sz="1500" b="1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430325" y="6006000"/>
            <a:ext cx="3608100" cy="8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Бекетов Д. Д. роект 2023</a:t>
            </a:r>
            <a:endParaRPr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523125" y="6456550"/>
            <a:ext cx="3608100" cy="8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dirty="0" smtClean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Карпенко Д.С. </a:t>
            </a:r>
            <a:r>
              <a:rPr lang="ru-RU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Реферат 202</a:t>
            </a:r>
            <a:r>
              <a:rPr lang="en-US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5</a:t>
            </a:r>
            <a:endParaRPr dirty="0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" name="Текстовое поле 1"/>
          <p:cNvSpPr txBox="1"/>
          <p:nvPr/>
        </p:nvSpPr>
        <p:spPr>
          <a:xfrm>
            <a:off x="3879186" y="6487742"/>
            <a:ext cx="4895908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fld id="{7D70D24E-22A2-4EF2-89C4-76EE51D78FF1}" type="slidenum">
              <a:rPr lang="ru-RU" sz="2000" b="0" strike="noStrike" spc="-1">
                <a:solidFill>
                  <a:schemeClr val="bg1"/>
                </a:solidFill>
                <a:latin typeface="Times New Roman" panose="02020603050405020304"/>
              </a:rPr>
              <a:t>11</a:t>
            </a:fld>
            <a:endParaRPr lang="ru-RU" altLang="en-US" sz="2000" b="0" strike="noStrike" spc="-1">
              <a:solidFill>
                <a:schemeClr val="bg1"/>
              </a:solidFill>
              <a:latin typeface="Times New Roman" panose="02020603050405020304"/>
            </a:endParaRPr>
          </a:p>
        </p:txBody>
      </p:sp>
      <p:sp>
        <p:nvSpPr>
          <p:cNvPr id="5" name="Управляющая кнопка: домашняя 4">
            <a:hlinkClick r:id="rId3" action="ppaction://hlinksldjump"/>
          </p:cNvPr>
          <p:cNvSpPr/>
          <p:nvPr/>
        </p:nvSpPr>
        <p:spPr>
          <a:xfrm>
            <a:off x="5768340" y="5691505"/>
            <a:ext cx="1178560" cy="628015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/>
          </a:p>
        </p:txBody>
      </p:sp>
      <p:sp>
        <p:nvSpPr>
          <p:cNvPr id="6" name="Управляющая кнопка: далее 5">
            <a:hlinkClick r:id="" action="ppaction://hlinkshowjump?jump=nextslide"/>
          </p:cNvPr>
          <p:cNvSpPr/>
          <p:nvPr/>
        </p:nvSpPr>
        <p:spPr>
          <a:xfrm>
            <a:off x="7365365" y="5691505"/>
            <a:ext cx="1178560" cy="628015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/>
          </a:p>
        </p:txBody>
      </p:sp>
      <p:sp>
        <p:nvSpPr>
          <p:cNvPr id="7" name="Управляющая кнопка: назад 6">
            <a:hlinkClick r:id="" action="ppaction://hlinkshowjump?jump=previousslide"/>
          </p:cNvPr>
          <p:cNvSpPr/>
          <p:nvPr/>
        </p:nvSpPr>
        <p:spPr>
          <a:xfrm>
            <a:off x="4195445" y="5691505"/>
            <a:ext cx="1178560" cy="628015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/>
          </a:p>
        </p:txBody>
      </p:sp>
      <p:sp>
        <p:nvSpPr>
          <p:cNvPr id="3" name="Текстовое поле 2"/>
          <p:cNvSpPr txBox="1"/>
          <p:nvPr/>
        </p:nvSpPr>
        <p:spPr>
          <a:xfrm>
            <a:off x="523240" y="897890"/>
            <a:ext cx="1166876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endParaRPr lang="ru-RU" altLang="en-US" sz="2800"/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272703" y="897890"/>
            <a:ext cx="12108873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ru-RU" sz="2800" b="1" dirty="0"/>
              <a:t>Методы дистилляции знаний. Передача индуктивных смещений</a:t>
            </a:r>
            <a:endParaRPr lang="ru-RU" sz="2800" dirty="0"/>
          </a:p>
        </p:txBody>
      </p:sp>
      <p:sp>
        <p:nvSpPr>
          <p:cNvPr id="13" name="TextBox 12"/>
          <p:cNvSpPr txBox="1"/>
          <p:nvPr/>
        </p:nvSpPr>
        <p:spPr>
          <a:xfrm>
            <a:off x="0" y="1621762"/>
            <a:ext cx="1219200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ru-RU" sz="2400" b="1" dirty="0"/>
              <a:t>Индуктивное смещение</a:t>
            </a:r>
            <a:r>
              <a:rPr lang="ru-RU" sz="2400" dirty="0"/>
              <a:t> — априорное предположение, заложенное в архитектуру модели (например, инвариантность к сдвигу у CNN).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ru-RU" sz="2800" b="1" dirty="0"/>
              <a:t>Идея</a:t>
            </a:r>
            <a:r>
              <a:rPr lang="ru-RU" sz="2800" b="1" dirty="0" smtClean="0"/>
              <a:t>:</a:t>
            </a:r>
            <a:endParaRPr lang="en-US" sz="2800" b="1" dirty="0" smtClean="0"/>
          </a:p>
          <a:p>
            <a:pPr lvl="0"/>
            <a:r>
              <a:rPr lang="en-US" sz="2800" b="1" dirty="0"/>
              <a:t>	</a:t>
            </a:r>
            <a:r>
              <a:rPr lang="ru-RU" sz="2800" dirty="0" smtClean="0"/>
              <a:t> </a:t>
            </a:r>
            <a:r>
              <a:rPr lang="ru-RU" sz="2400" dirty="0"/>
              <a:t>Дистилляция может передавать </a:t>
            </a:r>
            <a:r>
              <a:rPr lang="ru-RU" sz="2400" dirty="0" smtClean="0"/>
              <a:t>эти </a:t>
            </a:r>
            <a:r>
              <a:rPr lang="ru-RU" sz="2400" dirty="0"/>
              <a:t>свойства между архитектурами.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ru-RU" sz="2800" b="1" dirty="0"/>
              <a:t>Примеры:</a:t>
            </a:r>
            <a:endParaRPr lang="ru-RU" sz="2800" dirty="0"/>
          </a:p>
          <a:p>
            <a:pPr lvl="1"/>
            <a:r>
              <a:rPr lang="en-US" sz="2800" b="1" dirty="0" smtClean="0"/>
              <a:t>	</a:t>
            </a:r>
            <a:r>
              <a:rPr lang="ru-RU" sz="2400" b="1" dirty="0" smtClean="0"/>
              <a:t>CNN </a:t>
            </a:r>
            <a:r>
              <a:rPr lang="ru-RU" sz="2400" b="1" dirty="0"/>
              <a:t>-&gt; MLP:</a:t>
            </a:r>
            <a:r>
              <a:rPr lang="ru-RU" sz="2400" dirty="0"/>
              <a:t> MLP становится более устойчивым к сдвигам изображений.</a:t>
            </a:r>
          </a:p>
          <a:p>
            <a:pPr lvl="1"/>
            <a:r>
              <a:rPr lang="en-US" sz="2400" b="1" dirty="0" smtClean="0"/>
              <a:t>	</a:t>
            </a:r>
            <a:r>
              <a:rPr lang="ru-RU" sz="2400" b="1" dirty="0" smtClean="0"/>
              <a:t>LSTM </a:t>
            </a:r>
            <a:r>
              <a:rPr lang="ru-RU" sz="2400" b="1" dirty="0"/>
              <a:t>-&gt; </a:t>
            </a:r>
            <a:r>
              <a:rPr lang="ru-RU" sz="2400" b="1" dirty="0" err="1"/>
              <a:t>Трансформер</a:t>
            </a:r>
            <a:r>
              <a:rPr lang="ru-RU" sz="2400" b="1" dirty="0"/>
              <a:t>:</a:t>
            </a:r>
            <a:r>
              <a:rPr lang="ru-RU" sz="2400" dirty="0"/>
              <a:t> </a:t>
            </a:r>
            <a:r>
              <a:rPr lang="ru-RU" sz="2400" dirty="0" err="1"/>
              <a:t>Трансформер</a:t>
            </a:r>
            <a:r>
              <a:rPr lang="ru-RU" sz="2400" dirty="0"/>
              <a:t> лучше справляется с синтаксическими задачами, перенимая рекуррентное смещение LSTM</a:t>
            </a:r>
            <a:r>
              <a:rPr lang="ru-RU" sz="2400" dirty="0" smtClean="0"/>
              <a:t>.</a:t>
            </a:r>
            <a:endParaRPr lang="en-US" sz="2400" dirty="0" smtClean="0"/>
          </a:p>
          <a:p>
            <a:pPr lvl="1"/>
            <a:endParaRPr lang="ru-RU" sz="2400" dirty="0"/>
          </a:p>
          <a:p>
            <a:pPr lvl="0"/>
            <a:r>
              <a:rPr lang="ru-RU" sz="2800" b="1" dirty="0"/>
              <a:t>Вывод:</a:t>
            </a:r>
            <a:r>
              <a:rPr lang="ru-RU" sz="2800" dirty="0"/>
              <a:t> </a:t>
            </a:r>
            <a:r>
              <a:rPr lang="ru-RU" sz="2400" dirty="0"/>
              <a:t>Дистилляция — это механизм передачи </a:t>
            </a:r>
            <a:r>
              <a:rPr lang="ru-RU" sz="2400" dirty="0" smtClean="0"/>
              <a:t>фундаментальных</a:t>
            </a:r>
            <a:r>
              <a:rPr lang="en-US" sz="2400" dirty="0" smtClean="0"/>
              <a:t> </a:t>
            </a:r>
            <a:r>
              <a:rPr lang="ru-RU" sz="2400" dirty="0" smtClean="0"/>
              <a:t>вычислительных </a:t>
            </a:r>
            <a:r>
              <a:rPr lang="ru-RU" sz="2400" dirty="0"/>
              <a:t>свойств.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736051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>
            <a:spLocks noGrp="1"/>
          </p:cNvSpPr>
          <p:nvPr>
            <p:ph type="title"/>
          </p:nvPr>
        </p:nvSpPr>
        <p:spPr>
          <a:xfrm>
            <a:off x="3518611" y="176988"/>
            <a:ext cx="8612087" cy="5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lnSpc>
                <a:spcPct val="100000"/>
              </a:lnSpc>
              <a:buClr>
                <a:schemeClr val="dk1"/>
              </a:buClr>
              <a:buSzPct val="58000"/>
            </a:pPr>
            <a:r>
              <a:rPr lang="ru-RU" sz="1500" dirty="0">
                <a:sym typeface="+mn-ea"/>
              </a:rPr>
              <a:t>СОВРЕМЕННЫЕ ИНФОРМАЦИОННЫЕ ТЕХНОЛОГИИ ДИСТИЛЛЯЦИИ ЗНАНИЙ НЕЙРОННЫХ СЕТЕЙ ДЛЯ ПОВЫШЕНИЯ ИХ ЭФФЕКТИВНОСТИ И ПРОИЗВОДИТЕЛЬНОСТИ</a:t>
            </a:r>
            <a:endParaRPr lang="ru-RU" sz="1500" b="1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430325" y="6006000"/>
            <a:ext cx="3608100" cy="8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Бекетов Д. Д. роект 2023</a:t>
            </a:r>
            <a:endParaRPr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523125" y="6456550"/>
            <a:ext cx="3608100" cy="8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dirty="0" smtClean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Карпенко Д.С. </a:t>
            </a:r>
            <a:r>
              <a:rPr lang="ru-RU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Реферат 202</a:t>
            </a:r>
            <a:r>
              <a:rPr lang="en-US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5</a:t>
            </a:r>
            <a:endParaRPr dirty="0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" name="Текстовое поле 1"/>
          <p:cNvSpPr txBox="1"/>
          <p:nvPr/>
        </p:nvSpPr>
        <p:spPr>
          <a:xfrm>
            <a:off x="3879186" y="6487742"/>
            <a:ext cx="4895908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fld id="{7D70D24E-22A2-4EF2-89C4-76EE51D78FF1}" type="slidenum">
              <a:rPr lang="ru-RU" sz="2000" b="0" strike="noStrike" spc="-1">
                <a:solidFill>
                  <a:schemeClr val="bg1"/>
                </a:solidFill>
                <a:latin typeface="Times New Roman" panose="02020603050405020304"/>
              </a:rPr>
              <a:t>12</a:t>
            </a:fld>
            <a:endParaRPr lang="ru-RU" altLang="en-US" sz="2000" b="0" strike="noStrike" spc="-1">
              <a:solidFill>
                <a:schemeClr val="bg1"/>
              </a:solidFill>
              <a:latin typeface="Times New Roman" panose="02020603050405020304"/>
            </a:endParaRPr>
          </a:p>
        </p:txBody>
      </p:sp>
      <p:sp>
        <p:nvSpPr>
          <p:cNvPr id="5" name="Управляющая кнопка: домашняя 4">
            <a:hlinkClick r:id="rId3" action="ppaction://hlinksldjump"/>
          </p:cNvPr>
          <p:cNvSpPr/>
          <p:nvPr/>
        </p:nvSpPr>
        <p:spPr>
          <a:xfrm>
            <a:off x="5768340" y="5691505"/>
            <a:ext cx="1178560" cy="628015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/>
          </a:p>
        </p:txBody>
      </p:sp>
      <p:sp>
        <p:nvSpPr>
          <p:cNvPr id="6" name="Управляющая кнопка: далее 5">
            <a:hlinkClick r:id="" action="ppaction://hlinkshowjump?jump=nextslide"/>
          </p:cNvPr>
          <p:cNvSpPr/>
          <p:nvPr/>
        </p:nvSpPr>
        <p:spPr>
          <a:xfrm>
            <a:off x="7365365" y="5691505"/>
            <a:ext cx="1178560" cy="628015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/>
          </a:p>
        </p:txBody>
      </p:sp>
      <p:sp>
        <p:nvSpPr>
          <p:cNvPr id="7" name="Управляющая кнопка: назад 6">
            <a:hlinkClick r:id="" action="ppaction://hlinkshowjump?jump=previousslide"/>
          </p:cNvPr>
          <p:cNvSpPr/>
          <p:nvPr/>
        </p:nvSpPr>
        <p:spPr>
          <a:xfrm>
            <a:off x="4195445" y="5691505"/>
            <a:ext cx="1178560" cy="628015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/>
          </a:p>
        </p:txBody>
      </p:sp>
      <p:sp>
        <p:nvSpPr>
          <p:cNvPr id="3" name="Текстовое поле 2"/>
          <p:cNvSpPr txBox="1"/>
          <p:nvPr/>
        </p:nvSpPr>
        <p:spPr>
          <a:xfrm>
            <a:off x="523240" y="897890"/>
            <a:ext cx="1166876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endParaRPr lang="ru-RU" altLang="en-US" sz="2800"/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1593503" y="888347"/>
            <a:ext cx="12108873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ru-RU" sz="3200" b="1" dirty="0" smtClean="0"/>
              <a:t>Применение</a:t>
            </a:r>
            <a:endParaRPr lang="ru-RU" sz="3200" dirty="0"/>
          </a:p>
        </p:txBody>
      </p:sp>
      <p:sp>
        <p:nvSpPr>
          <p:cNvPr id="13" name="TextBox 12"/>
          <p:cNvSpPr txBox="1"/>
          <p:nvPr/>
        </p:nvSpPr>
        <p:spPr>
          <a:xfrm>
            <a:off x="0" y="1621762"/>
            <a:ext cx="121920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ru-RU" sz="2800" b="1" dirty="0"/>
              <a:t>Создание эффективных моделей для NLP:</a:t>
            </a:r>
            <a:endParaRPr lang="ru-RU" sz="2800" dirty="0"/>
          </a:p>
          <a:p>
            <a:pPr lvl="1"/>
            <a:r>
              <a:rPr lang="ru-RU" sz="2400" dirty="0" smtClean="0"/>
              <a:t>	</a:t>
            </a:r>
            <a:r>
              <a:rPr lang="ru-RU" sz="2400" dirty="0" err="1" smtClean="0"/>
              <a:t>DistilBERT</a:t>
            </a:r>
            <a:r>
              <a:rPr lang="ru-RU" sz="2400" dirty="0"/>
              <a:t>, </a:t>
            </a:r>
            <a:r>
              <a:rPr lang="ru-RU" sz="2400" dirty="0" err="1"/>
              <a:t>TinyBERT</a:t>
            </a:r>
            <a:r>
              <a:rPr lang="ru-RU" sz="2400" dirty="0"/>
              <a:t> и другие компактные </a:t>
            </a:r>
            <a:r>
              <a:rPr lang="ru-RU" sz="2400" dirty="0" smtClean="0"/>
              <a:t>версии </a:t>
            </a:r>
            <a:r>
              <a:rPr lang="en-US" sz="2400" dirty="0" smtClean="0"/>
              <a:t>LLM.</a:t>
            </a:r>
            <a:endParaRPr lang="ru-RU" sz="2400" dirty="0"/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ru-RU" sz="2800" b="1" dirty="0"/>
              <a:t>Эффективное компьютерное зрение:</a:t>
            </a:r>
            <a:endParaRPr lang="ru-RU" sz="2800" dirty="0"/>
          </a:p>
          <a:p>
            <a:pPr lvl="1"/>
            <a:r>
              <a:rPr lang="ru-RU" sz="2400" dirty="0" smtClean="0"/>
              <a:t>	</a:t>
            </a:r>
            <a:r>
              <a:rPr lang="ru-RU" sz="2400" dirty="0" err="1" smtClean="0"/>
              <a:t>DeiT</a:t>
            </a:r>
            <a:r>
              <a:rPr lang="ru-RU" sz="2400" dirty="0" smtClean="0"/>
              <a:t> </a:t>
            </a:r>
            <a:r>
              <a:rPr lang="ru-RU" sz="2400" dirty="0"/>
              <a:t>и другие </a:t>
            </a:r>
            <a:r>
              <a:rPr lang="ru-RU" sz="2400" dirty="0" smtClean="0"/>
              <a:t>визуальные </a:t>
            </a:r>
            <a:r>
              <a:rPr lang="ru-RU" sz="2400" dirty="0" err="1" smtClean="0"/>
              <a:t>трансформеры</a:t>
            </a:r>
            <a:r>
              <a:rPr lang="ru-RU" sz="2400" dirty="0" smtClean="0"/>
              <a:t>, </a:t>
            </a:r>
            <a:r>
              <a:rPr lang="ru-RU" sz="2400" dirty="0"/>
              <a:t>способные работать на ограниченных ресурсах.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ru-RU" sz="2800" b="1" dirty="0"/>
              <a:t>Демократизация ИИ:</a:t>
            </a:r>
            <a:endParaRPr lang="ru-RU" sz="2800" dirty="0"/>
          </a:p>
          <a:p>
            <a:pPr lvl="1"/>
            <a:r>
              <a:rPr lang="ru-RU" sz="2400" dirty="0" smtClean="0"/>
              <a:t>	Развертывание </a:t>
            </a:r>
            <a:r>
              <a:rPr lang="ru-RU" sz="2400" dirty="0"/>
              <a:t>передовых моделей на мобильных и встраиваемых устройствах.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ru-RU" sz="2800" b="1" dirty="0"/>
              <a:t>Снижение затрат:</a:t>
            </a:r>
            <a:endParaRPr lang="ru-RU" sz="2800" dirty="0"/>
          </a:p>
          <a:p>
            <a:pPr lvl="1"/>
            <a:r>
              <a:rPr lang="ru-RU" sz="2400" dirty="0" smtClean="0"/>
              <a:t>	Сокращение </a:t>
            </a:r>
            <a:r>
              <a:rPr lang="ru-RU" sz="2400" dirty="0"/>
              <a:t>финансовых и экологических издержек при обучении и эксплуатации.</a:t>
            </a:r>
          </a:p>
        </p:txBody>
      </p:sp>
    </p:spTree>
    <p:extLst>
      <p:ext uri="{BB962C8B-B14F-4D97-AF65-F5344CB8AC3E}">
        <p14:creationId xmlns:p14="http://schemas.microsoft.com/office/powerpoint/2010/main" val="3065911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>
            <a:spLocks noGrp="1"/>
          </p:cNvSpPr>
          <p:nvPr>
            <p:ph type="title"/>
          </p:nvPr>
        </p:nvSpPr>
        <p:spPr>
          <a:xfrm>
            <a:off x="3518611" y="176988"/>
            <a:ext cx="8612087" cy="5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lnSpc>
                <a:spcPct val="100000"/>
              </a:lnSpc>
              <a:buClr>
                <a:schemeClr val="dk1"/>
              </a:buClr>
              <a:buSzPct val="58000"/>
            </a:pPr>
            <a:r>
              <a:rPr lang="ru-RU" sz="1500" dirty="0">
                <a:sym typeface="+mn-ea"/>
              </a:rPr>
              <a:t>СОВРЕМЕННЫЕ ИНФОРМАЦИОННЫЕ ТЕХНОЛОГИИ ДИСТИЛЛЯЦИИ ЗНАНИЙ НЕЙРОННЫХ СЕТЕЙ ДЛЯ ПОВЫШЕНИЯ ИХ ЭФФЕКТИВНОСТИ И ПРОИЗВОДИТЕЛЬНОСТИ</a:t>
            </a:r>
            <a:endParaRPr lang="ru-RU" sz="1500" b="1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523125" y="6456550"/>
            <a:ext cx="3608100" cy="8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dirty="0" smtClean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Карпенко Д.С. </a:t>
            </a:r>
            <a:r>
              <a:rPr lang="ru-RU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Реферат 202</a:t>
            </a:r>
            <a:r>
              <a:rPr lang="en-US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5</a:t>
            </a:r>
            <a:endParaRPr dirty="0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" name="Текстовое поле 1"/>
          <p:cNvSpPr txBox="1"/>
          <p:nvPr/>
        </p:nvSpPr>
        <p:spPr>
          <a:xfrm>
            <a:off x="3989387" y="6483770"/>
            <a:ext cx="467423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fld id="{7D70D24E-22A2-4EF2-89C4-76EE51D78FF1}" type="slidenum">
              <a:rPr lang="ru-RU" sz="2000" b="0" strike="noStrike" spc="-1">
                <a:solidFill>
                  <a:schemeClr val="bg1"/>
                </a:solidFill>
                <a:latin typeface="Times New Roman" panose="02020603050405020304"/>
              </a:rPr>
              <a:t>13</a:t>
            </a:fld>
            <a:endParaRPr lang="ru-RU" altLang="en-US" sz="2000" b="0" strike="noStrike" spc="-1">
              <a:solidFill>
                <a:schemeClr val="bg1"/>
              </a:solidFill>
              <a:latin typeface="Times New Roman" panose="02020603050405020304"/>
            </a:endParaRPr>
          </a:p>
        </p:txBody>
      </p:sp>
      <p:sp>
        <p:nvSpPr>
          <p:cNvPr id="5" name="Управляющая кнопка: домашняя 4">
            <a:hlinkClick r:id="rId3" action="ppaction://hlinksldjump"/>
          </p:cNvPr>
          <p:cNvSpPr/>
          <p:nvPr/>
        </p:nvSpPr>
        <p:spPr>
          <a:xfrm>
            <a:off x="5768340" y="5691505"/>
            <a:ext cx="1178560" cy="628015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/>
          </a:p>
        </p:txBody>
      </p:sp>
      <p:sp>
        <p:nvSpPr>
          <p:cNvPr id="6" name="Управляющая кнопка: далее 5">
            <a:hlinkClick r:id="" action="ppaction://hlinkshowjump?jump=nextslide"/>
          </p:cNvPr>
          <p:cNvSpPr/>
          <p:nvPr/>
        </p:nvSpPr>
        <p:spPr>
          <a:xfrm>
            <a:off x="7365365" y="5691505"/>
            <a:ext cx="1178560" cy="628015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/>
          </a:p>
        </p:txBody>
      </p:sp>
      <p:sp>
        <p:nvSpPr>
          <p:cNvPr id="7" name="Управляющая кнопка: назад 6">
            <a:hlinkClick r:id="" action="ppaction://hlinkshowjump?jump=previousslide"/>
          </p:cNvPr>
          <p:cNvSpPr/>
          <p:nvPr/>
        </p:nvSpPr>
        <p:spPr>
          <a:xfrm>
            <a:off x="4195445" y="5691505"/>
            <a:ext cx="1178560" cy="628015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/>
          </a:p>
        </p:txBody>
      </p:sp>
      <p:sp>
        <p:nvSpPr>
          <p:cNvPr id="3" name="Текстовое поле 2"/>
          <p:cNvSpPr txBox="1"/>
          <p:nvPr/>
        </p:nvSpPr>
        <p:spPr>
          <a:xfrm>
            <a:off x="523240" y="897890"/>
            <a:ext cx="1166876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endParaRPr lang="ru-RU" altLang="en-US" sz="2800"/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523875" y="898525"/>
            <a:ext cx="11669395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ru-RU" sz="2800" b="1" dirty="0"/>
              <a:t>Проблемы и ограничения</a:t>
            </a:r>
            <a:endParaRPr sz="2800" b="1" dirty="0">
              <a:sym typeface="+mn-e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1564849"/>
            <a:ext cx="12192000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2400" b="1" dirty="0"/>
              <a:t>Зависимость от учителя:</a:t>
            </a:r>
            <a:r>
              <a:rPr lang="ru-RU" sz="2400" dirty="0"/>
              <a:t> </a:t>
            </a:r>
            <a:endParaRPr lang="en-US" sz="2400" dirty="0" smtClean="0"/>
          </a:p>
          <a:p>
            <a:pPr lvl="0"/>
            <a:r>
              <a:rPr lang="en-US" sz="2400" dirty="0"/>
              <a:t>	</a:t>
            </a:r>
            <a:r>
              <a:rPr lang="ru-RU" sz="2000" dirty="0" smtClean="0"/>
              <a:t>Качество </a:t>
            </a:r>
            <a:r>
              <a:rPr lang="ru-RU" sz="2000" dirty="0"/>
              <a:t>ученика ограничено качеством учителя (в классической парадигме).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2400" b="1" dirty="0"/>
              <a:t>Вычислительная сложность:</a:t>
            </a:r>
            <a:r>
              <a:rPr lang="ru-RU" sz="2400" dirty="0"/>
              <a:t> </a:t>
            </a:r>
            <a:endParaRPr lang="en-US" sz="2400" dirty="0" smtClean="0"/>
          </a:p>
          <a:p>
            <a:pPr lvl="0"/>
            <a:r>
              <a:rPr lang="en-US" sz="2400" dirty="0"/>
              <a:t>	</a:t>
            </a:r>
            <a:r>
              <a:rPr lang="ru-RU" sz="2000" dirty="0" smtClean="0"/>
              <a:t>Процесс </a:t>
            </a:r>
            <a:r>
              <a:rPr lang="ru-RU" sz="2000" dirty="0"/>
              <a:t>дистилляции может быть ресурсоемким.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2400" b="1" dirty="0"/>
              <a:t>Выбор архитектур:</a:t>
            </a:r>
            <a:r>
              <a:rPr lang="ru-RU" sz="2400" dirty="0"/>
              <a:t> </a:t>
            </a:r>
            <a:endParaRPr lang="en-US" sz="2400" dirty="0" smtClean="0"/>
          </a:p>
          <a:p>
            <a:pPr lvl="0"/>
            <a:r>
              <a:rPr lang="en-US" sz="2400" dirty="0"/>
              <a:t>	</a:t>
            </a:r>
            <a:r>
              <a:rPr lang="ru-RU" sz="2000" dirty="0" smtClean="0"/>
              <a:t>Не </a:t>
            </a:r>
            <a:r>
              <a:rPr lang="ru-RU" sz="2000" dirty="0"/>
              <a:t>все пары «учитель-ученик» одинаково эффективны.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2400" b="1" dirty="0"/>
              <a:t>Поиск оптимального метода:</a:t>
            </a:r>
            <a:r>
              <a:rPr lang="ru-RU" sz="2400" dirty="0"/>
              <a:t> </a:t>
            </a:r>
            <a:endParaRPr lang="en-US" sz="2400" dirty="0" smtClean="0"/>
          </a:p>
          <a:p>
            <a:pPr lvl="0"/>
            <a:r>
              <a:rPr lang="en-US" sz="2400" dirty="0"/>
              <a:t>	</a:t>
            </a:r>
            <a:r>
              <a:rPr lang="ru-RU" sz="2000" dirty="0" smtClean="0"/>
              <a:t>Существует </a:t>
            </a:r>
            <a:r>
              <a:rPr lang="ru-RU" sz="2000" dirty="0"/>
              <a:t>множество подходов (KD, AT, DML), и их выбор зависит от конкретной задачи и архитектуры.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b="1" dirty="0"/>
              <a:t>Риск переобучения:</a:t>
            </a:r>
            <a:r>
              <a:rPr lang="ru-RU" sz="2400" dirty="0"/>
              <a:t> </a:t>
            </a:r>
            <a:endParaRPr lang="en-US" sz="2400" dirty="0" smtClean="0"/>
          </a:p>
          <a:p>
            <a:r>
              <a:rPr lang="en-US" sz="2400" dirty="0"/>
              <a:t>	</a:t>
            </a:r>
            <a:r>
              <a:rPr lang="ru-RU" sz="2000" dirty="0" smtClean="0"/>
              <a:t>Ученик </a:t>
            </a:r>
            <a:r>
              <a:rPr lang="ru-RU" sz="2000" dirty="0"/>
              <a:t>может перенять и недостатки учителя.</a:t>
            </a:r>
            <a:endParaRPr lang="ru-RU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>
            <a:spLocks noGrp="1"/>
          </p:cNvSpPr>
          <p:nvPr>
            <p:ph type="title"/>
          </p:nvPr>
        </p:nvSpPr>
        <p:spPr>
          <a:xfrm>
            <a:off x="3518611" y="176988"/>
            <a:ext cx="8612087" cy="5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lnSpc>
                <a:spcPct val="100000"/>
              </a:lnSpc>
              <a:buClr>
                <a:schemeClr val="dk1"/>
              </a:buClr>
              <a:buSzPct val="58000"/>
            </a:pPr>
            <a:r>
              <a:rPr lang="ru-RU" sz="1500" dirty="0">
                <a:sym typeface="+mn-ea"/>
              </a:rPr>
              <a:t>СОВРЕМЕННЫЕ ИНФОРМАЦИОННЫЕ ТЕХНОЛОГИИ ДИСТИЛЛЯЦИИ ЗНАНИЙ НЕЙРОННЫХ СЕТЕЙ ДЛЯ ПОВЫШЕНИЯ ИХ ЭФФЕКТИВНОСТИ И ПРОИЗВОДИТЕЛЬНОСТИ</a:t>
            </a:r>
            <a:endParaRPr lang="ru-RU" sz="1500" b="1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523125" y="6456550"/>
            <a:ext cx="3608100" cy="8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dirty="0" smtClean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Карпенко Д.С. </a:t>
            </a:r>
            <a:r>
              <a:rPr lang="ru-RU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Реферат 202</a:t>
            </a:r>
            <a:r>
              <a:rPr lang="en-US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5</a:t>
            </a:r>
            <a:endParaRPr dirty="0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" name="Текстовое поле 1"/>
          <p:cNvSpPr txBox="1"/>
          <p:nvPr/>
        </p:nvSpPr>
        <p:spPr>
          <a:xfrm>
            <a:off x="3748031" y="6483770"/>
            <a:ext cx="5163762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fld id="{7D70D24E-22A2-4EF2-89C4-76EE51D78FF1}" type="slidenum">
              <a:rPr lang="ru-RU" sz="2000" b="0" strike="noStrike" spc="-1">
                <a:solidFill>
                  <a:schemeClr val="bg1"/>
                </a:solidFill>
                <a:latin typeface="Times New Roman" panose="02020603050405020304"/>
              </a:rPr>
              <a:t>14</a:t>
            </a:fld>
            <a:endParaRPr lang="ru-RU" altLang="en-US" sz="2000" b="0" strike="noStrike" spc="-1" dirty="0">
              <a:solidFill>
                <a:schemeClr val="bg1"/>
              </a:solidFill>
              <a:latin typeface="Times New Roman" panose="02020603050405020304"/>
            </a:endParaRPr>
          </a:p>
        </p:txBody>
      </p:sp>
      <p:sp>
        <p:nvSpPr>
          <p:cNvPr id="5" name="Управляющая кнопка: домашняя 4">
            <a:hlinkClick r:id="rId3" action="ppaction://hlinksldjump"/>
          </p:cNvPr>
          <p:cNvSpPr/>
          <p:nvPr/>
        </p:nvSpPr>
        <p:spPr>
          <a:xfrm>
            <a:off x="5768340" y="5691505"/>
            <a:ext cx="1178560" cy="628015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/>
          </a:p>
        </p:txBody>
      </p:sp>
      <p:sp>
        <p:nvSpPr>
          <p:cNvPr id="6" name="Управляющая кнопка: далее 5">
            <a:hlinkClick r:id="" action="ppaction://hlinkshowjump?jump=nextslide"/>
          </p:cNvPr>
          <p:cNvSpPr/>
          <p:nvPr/>
        </p:nvSpPr>
        <p:spPr>
          <a:xfrm>
            <a:off x="7365365" y="5691505"/>
            <a:ext cx="1178560" cy="628015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/>
          </a:p>
        </p:txBody>
      </p:sp>
      <p:sp>
        <p:nvSpPr>
          <p:cNvPr id="7" name="Управляющая кнопка: назад 6">
            <a:hlinkClick r:id="" action="ppaction://hlinkshowjump?jump=previousslide"/>
          </p:cNvPr>
          <p:cNvSpPr/>
          <p:nvPr/>
        </p:nvSpPr>
        <p:spPr>
          <a:xfrm>
            <a:off x="4195445" y="5691505"/>
            <a:ext cx="1178560" cy="628015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/>
          </a:p>
        </p:txBody>
      </p:sp>
      <p:sp>
        <p:nvSpPr>
          <p:cNvPr id="3" name="Текстовое поле 2"/>
          <p:cNvSpPr txBox="1"/>
          <p:nvPr/>
        </p:nvSpPr>
        <p:spPr>
          <a:xfrm>
            <a:off x="523240" y="897890"/>
            <a:ext cx="1166876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endParaRPr lang="ru-RU" altLang="en-US" sz="2800"/>
          </a:p>
        </p:txBody>
      </p:sp>
      <p:sp>
        <p:nvSpPr>
          <p:cNvPr id="10" name="Текстовое поле 3"/>
          <p:cNvSpPr txBox="1"/>
          <p:nvPr/>
        </p:nvSpPr>
        <p:spPr>
          <a:xfrm>
            <a:off x="523875" y="898525"/>
            <a:ext cx="11669395" cy="523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ru-RU" sz="2800" b="1" dirty="0" smtClean="0"/>
              <a:t>Методика исследования</a:t>
            </a:r>
            <a:endParaRPr sz="2800" b="1" dirty="0">
              <a:sym typeface="+mn-ea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1447080"/>
            <a:ext cx="1219200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400" b="1" dirty="0"/>
              <a:t>Основной метод:</a:t>
            </a:r>
            <a:r>
              <a:rPr lang="ru-RU" sz="2400" dirty="0"/>
              <a:t> Систематический литературный анализ.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400" b="1" dirty="0"/>
              <a:t>Период анализа:</a:t>
            </a:r>
            <a:r>
              <a:rPr lang="ru-RU" sz="2400" dirty="0"/>
              <a:t> С 2015 года по настоящее время.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400" b="1" dirty="0"/>
              <a:t>Критерии отбора источников:</a:t>
            </a:r>
            <a:endParaRPr lang="ru-RU" sz="2400" dirty="0"/>
          </a:p>
          <a:p>
            <a:pPr lvl="1"/>
            <a:r>
              <a:rPr lang="ru-RU" sz="2400" dirty="0" smtClean="0"/>
              <a:t>	Цитируемость</a:t>
            </a:r>
            <a:r>
              <a:rPr lang="ru-RU" sz="2400" dirty="0"/>
              <a:t>.</a:t>
            </a:r>
          </a:p>
          <a:p>
            <a:pPr lvl="1"/>
            <a:r>
              <a:rPr lang="ru-RU" sz="2400" dirty="0" smtClean="0"/>
              <a:t>	Значимость </a:t>
            </a:r>
            <a:r>
              <a:rPr lang="ru-RU" sz="2400" dirty="0"/>
              <a:t>для научного сообщества.</a:t>
            </a:r>
          </a:p>
          <a:p>
            <a:pPr lvl="1"/>
            <a:r>
              <a:rPr lang="ru-RU" sz="2400" dirty="0" smtClean="0"/>
              <a:t>	Репрезентативность </a:t>
            </a:r>
            <a:r>
              <a:rPr lang="ru-RU" sz="2400" dirty="0"/>
              <a:t>для различных парадигм дистилляции.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ru-RU" sz="2400" b="1" dirty="0"/>
              <a:t>Критерии сравнительного анализа:</a:t>
            </a:r>
            <a:endParaRPr lang="ru-RU" sz="2400" dirty="0"/>
          </a:p>
          <a:p>
            <a:pPr lvl="1"/>
            <a:r>
              <a:rPr lang="ru-RU" sz="2400" dirty="0" smtClean="0"/>
              <a:t>	Эффективность </a:t>
            </a:r>
            <a:r>
              <a:rPr lang="ru-RU" sz="2400" dirty="0"/>
              <a:t>компрессии и сохранение точности.</a:t>
            </a:r>
          </a:p>
          <a:p>
            <a:pPr lvl="1"/>
            <a:r>
              <a:rPr lang="ru-RU" sz="2400" dirty="0" smtClean="0"/>
              <a:t>	Скорость </a:t>
            </a:r>
            <a:r>
              <a:rPr lang="ru-RU" sz="2400" dirty="0"/>
              <a:t>применения.</a:t>
            </a:r>
          </a:p>
          <a:p>
            <a:pPr lvl="1"/>
            <a:r>
              <a:rPr lang="ru-RU" sz="2400" dirty="0" smtClean="0"/>
              <a:t>	Новизна </a:t>
            </a:r>
            <a:r>
              <a:rPr lang="ru-RU" sz="2400" dirty="0"/>
              <a:t>передаваемых знаний.</a:t>
            </a:r>
          </a:p>
          <a:p>
            <a:pPr lvl="1"/>
            <a:r>
              <a:rPr lang="ru-RU" sz="2400" dirty="0" smtClean="0"/>
              <a:t>	Архитектурная </a:t>
            </a:r>
            <a:r>
              <a:rPr lang="ru-RU" sz="2400" dirty="0"/>
              <a:t>применимость.</a:t>
            </a:r>
          </a:p>
          <a:p>
            <a:pPr lvl="1"/>
            <a:r>
              <a:rPr lang="ru-RU" sz="2400" dirty="0" smtClean="0"/>
              <a:t>	Парадигма </a:t>
            </a:r>
            <a:r>
              <a:rPr lang="ru-RU" sz="2400" dirty="0"/>
              <a:t>обучения.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>
            <a:spLocks noGrp="1"/>
          </p:cNvSpPr>
          <p:nvPr>
            <p:ph type="title"/>
          </p:nvPr>
        </p:nvSpPr>
        <p:spPr>
          <a:xfrm>
            <a:off x="3518611" y="176988"/>
            <a:ext cx="8612087" cy="5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lnSpc>
                <a:spcPct val="100000"/>
              </a:lnSpc>
              <a:buClr>
                <a:schemeClr val="dk1"/>
              </a:buClr>
              <a:buSzPct val="58000"/>
            </a:pPr>
            <a:r>
              <a:rPr lang="ru-RU" sz="1500" dirty="0">
                <a:sym typeface="+mn-ea"/>
              </a:rPr>
              <a:t>СОВРЕМЕННЫЕ ИНФОРМАЦИОННЫЕ ТЕХНОЛОГИИ ДИСТИЛЛЯЦИИ ЗНАНИЙ НЕЙРОННЫХ СЕТЕЙ ДЛЯ ПОВЫШЕНИЯ ИХ ЭФФЕКТИВНОСТИ И ПРОИЗВОДИТЕЛЬНОСТИ</a:t>
            </a:r>
            <a:endParaRPr lang="ru-RU" sz="1500" b="1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523125" y="6456550"/>
            <a:ext cx="3608100" cy="8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dirty="0" smtClean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Карпенко Д.С. </a:t>
            </a:r>
            <a:r>
              <a:rPr lang="ru-RU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Реферат 202</a:t>
            </a:r>
            <a:r>
              <a:rPr lang="en-US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5</a:t>
            </a:r>
            <a:endParaRPr dirty="0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" name="Текстовое поле 1"/>
          <p:cNvSpPr txBox="1"/>
          <p:nvPr/>
        </p:nvSpPr>
        <p:spPr>
          <a:xfrm>
            <a:off x="4445376" y="6483770"/>
            <a:ext cx="3769071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fld id="{7D70D24E-22A2-4EF2-89C4-76EE51D78FF1}" type="slidenum">
              <a:rPr lang="ru-RU" sz="2000" b="0" strike="noStrike" spc="-1">
                <a:solidFill>
                  <a:schemeClr val="bg1"/>
                </a:solidFill>
                <a:latin typeface="Times New Roman" panose="02020603050405020304"/>
              </a:rPr>
              <a:t>15</a:t>
            </a:fld>
            <a:endParaRPr lang="ru-RU" altLang="en-US" sz="2000" b="0" strike="noStrike" spc="-1">
              <a:solidFill>
                <a:schemeClr val="bg1"/>
              </a:solidFill>
              <a:latin typeface="Times New Roman" panose="02020603050405020304"/>
            </a:endParaRPr>
          </a:p>
        </p:txBody>
      </p:sp>
      <p:sp>
        <p:nvSpPr>
          <p:cNvPr id="5" name="Управляющая кнопка: домашняя 4">
            <a:hlinkClick r:id="rId3" action="ppaction://hlinksldjump"/>
          </p:cNvPr>
          <p:cNvSpPr/>
          <p:nvPr/>
        </p:nvSpPr>
        <p:spPr>
          <a:xfrm>
            <a:off x="5768340" y="5691505"/>
            <a:ext cx="1178560" cy="628015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/>
          </a:p>
        </p:txBody>
      </p:sp>
      <p:sp>
        <p:nvSpPr>
          <p:cNvPr id="6" name="Управляющая кнопка: далее 5">
            <a:hlinkClick r:id="" action="ppaction://hlinkshowjump?jump=nextslide"/>
          </p:cNvPr>
          <p:cNvSpPr/>
          <p:nvPr/>
        </p:nvSpPr>
        <p:spPr>
          <a:xfrm>
            <a:off x="7365365" y="5691505"/>
            <a:ext cx="1178560" cy="628015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/>
          </a:p>
        </p:txBody>
      </p:sp>
      <p:sp>
        <p:nvSpPr>
          <p:cNvPr id="7" name="Управляющая кнопка: назад 6">
            <a:hlinkClick r:id="" action="ppaction://hlinkshowjump?jump=previousslide"/>
          </p:cNvPr>
          <p:cNvSpPr/>
          <p:nvPr/>
        </p:nvSpPr>
        <p:spPr>
          <a:xfrm>
            <a:off x="4195445" y="5691505"/>
            <a:ext cx="1178560" cy="628015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/>
          </a:p>
        </p:txBody>
      </p:sp>
      <p:sp>
        <p:nvSpPr>
          <p:cNvPr id="3" name="Текстовое поле 2"/>
          <p:cNvSpPr txBox="1"/>
          <p:nvPr/>
        </p:nvSpPr>
        <p:spPr>
          <a:xfrm>
            <a:off x="523240" y="897890"/>
            <a:ext cx="1166876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endParaRPr lang="ru-RU" altLang="en-US" sz="2800"/>
          </a:p>
        </p:txBody>
      </p:sp>
      <p:sp>
        <p:nvSpPr>
          <p:cNvPr id="10" name="Текстовое поле 3"/>
          <p:cNvSpPr txBox="1"/>
          <p:nvPr/>
        </p:nvSpPr>
        <p:spPr>
          <a:xfrm>
            <a:off x="523875" y="898525"/>
            <a:ext cx="11669395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ru-RU" sz="3200" b="1" dirty="0" smtClean="0"/>
              <a:t>Результаты исследования</a:t>
            </a:r>
            <a:endParaRPr sz="3200" b="1" dirty="0">
              <a:sym typeface="+mn-e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1621762"/>
            <a:ext cx="121920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2800" b="1" dirty="0"/>
              <a:t>Эволюция понятия «знание»:</a:t>
            </a:r>
            <a:endParaRPr lang="ru-RU" sz="2800" dirty="0"/>
          </a:p>
          <a:p>
            <a:pPr lvl="1"/>
            <a:r>
              <a:rPr lang="ru-RU" sz="2800" dirty="0" smtClean="0"/>
              <a:t>	</a:t>
            </a:r>
            <a:r>
              <a:rPr lang="ru-RU" sz="2400" dirty="0" smtClean="0"/>
              <a:t>От </a:t>
            </a:r>
            <a:r>
              <a:rPr lang="ru-RU" sz="2400" dirty="0"/>
              <a:t>«мягких меток» (</a:t>
            </a:r>
            <a:r>
              <a:rPr lang="ru-RU" sz="2400" dirty="0" err="1"/>
              <a:t>Hinton</a:t>
            </a:r>
            <a:r>
              <a:rPr lang="ru-RU" sz="2400" dirty="0"/>
              <a:t>) -&gt; к картам внимания (AT) -&gt; к индуктивным смещениям -&gt; к коллективному интеллекту (DML).</a:t>
            </a: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ru-RU" sz="2800" b="1" dirty="0"/>
              <a:t>Сдвиг:</a:t>
            </a:r>
            <a:r>
              <a:rPr lang="ru-RU" sz="2800" dirty="0"/>
              <a:t> </a:t>
            </a:r>
            <a:endParaRPr lang="ru-RU" sz="2800" dirty="0" smtClean="0"/>
          </a:p>
          <a:p>
            <a:pPr lvl="1"/>
            <a:r>
              <a:rPr lang="ru-RU" sz="2800" dirty="0"/>
              <a:t>	</a:t>
            </a:r>
            <a:r>
              <a:rPr lang="ru-RU" sz="2400" dirty="0" smtClean="0"/>
              <a:t>от </a:t>
            </a:r>
            <a:r>
              <a:rPr lang="ru-RU" sz="2400" dirty="0"/>
              <a:t>имитации </a:t>
            </a:r>
            <a:r>
              <a:rPr lang="ru-RU" sz="2400" i="1" dirty="0"/>
              <a:t>ответа</a:t>
            </a:r>
            <a:r>
              <a:rPr lang="ru-RU" sz="2400" dirty="0"/>
              <a:t> к имитации </a:t>
            </a:r>
            <a:r>
              <a:rPr lang="ru-RU" sz="2400" i="1" dirty="0"/>
              <a:t>процесса</a:t>
            </a:r>
            <a:r>
              <a:rPr lang="ru-RU" sz="2400" dirty="0"/>
              <a:t>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ru-RU" sz="2800" b="1" dirty="0"/>
              <a:t>Изменение роли учителя:</a:t>
            </a:r>
            <a:endParaRPr lang="ru-RU" sz="2800" dirty="0"/>
          </a:p>
          <a:p>
            <a:pPr lvl="1"/>
            <a:r>
              <a:rPr lang="ru-RU" sz="2800" dirty="0" smtClean="0"/>
              <a:t>	</a:t>
            </a:r>
            <a:r>
              <a:rPr lang="ru-RU" sz="2400" dirty="0" smtClean="0"/>
              <a:t>От </a:t>
            </a:r>
            <a:r>
              <a:rPr lang="ru-RU" sz="2400" dirty="0"/>
              <a:t>статичного эксперта -&gt; к динамичному коллеге (DML).</a:t>
            </a:r>
          </a:p>
          <a:p>
            <a:r>
              <a:rPr lang="ru-RU" sz="2400" dirty="0" smtClean="0"/>
              <a:t>	«</a:t>
            </a:r>
            <a:r>
              <a:rPr lang="ru-RU" sz="2400" dirty="0"/>
              <a:t>Лучший» учитель — не всегда самая большая модель, а модель с комплементарными знаниями (CNN для </a:t>
            </a:r>
            <a:r>
              <a:rPr lang="ru-RU" sz="2400" dirty="0" err="1"/>
              <a:t>ViT</a:t>
            </a:r>
            <a:r>
              <a:rPr lang="ru-RU" sz="2400" dirty="0"/>
              <a:t>).</a:t>
            </a:r>
            <a:endParaRPr lang="ru-RU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>
            <a:spLocks noGrp="1"/>
          </p:cNvSpPr>
          <p:nvPr>
            <p:ph type="title"/>
          </p:nvPr>
        </p:nvSpPr>
        <p:spPr>
          <a:xfrm>
            <a:off x="3518611" y="176988"/>
            <a:ext cx="8612087" cy="5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lnSpc>
                <a:spcPct val="100000"/>
              </a:lnSpc>
              <a:buClr>
                <a:schemeClr val="dk1"/>
              </a:buClr>
              <a:buSzPct val="58000"/>
            </a:pPr>
            <a:r>
              <a:rPr lang="ru-RU" sz="1500" dirty="0">
                <a:sym typeface="+mn-ea"/>
              </a:rPr>
              <a:t>СОВРЕМЕННЫЕ ИНФОРМАЦИОННЫЕ ТЕХНОЛОГИИ ДИСТИЛЛЯЦИИ ЗНАНИЙ НЕЙРОННЫХ СЕТЕЙ ДЛЯ ПОВЫШЕНИЯ ИХ ЭФФЕКТИВНОСТИ И ПРОИЗВОДИТЕЛЬНОСТИ</a:t>
            </a:r>
            <a:endParaRPr lang="ru-RU" sz="1500" b="1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430325" y="6006000"/>
            <a:ext cx="3608100" cy="8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Бекетов Д. Д. роект 2023</a:t>
            </a:r>
            <a:endParaRPr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523125" y="6456550"/>
            <a:ext cx="3608100" cy="8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dirty="0" smtClean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Карпенко Д.С. </a:t>
            </a:r>
            <a:r>
              <a:rPr lang="ru-RU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Реферат 202</a:t>
            </a:r>
            <a:r>
              <a:rPr lang="en-US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5</a:t>
            </a:r>
            <a:endParaRPr dirty="0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" name="Текстовое поле 1"/>
          <p:cNvSpPr txBox="1"/>
          <p:nvPr/>
        </p:nvSpPr>
        <p:spPr>
          <a:xfrm>
            <a:off x="4505557" y="6483770"/>
            <a:ext cx="364871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fld id="{7D70D24E-22A2-4EF2-89C4-76EE51D78FF1}" type="slidenum">
              <a:rPr lang="ru-RU" sz="2000" b="0" strike="noStrike" spc="-1">
                <a:solidFill>
                  <a:schemeClr val="bg1"/>
                </a:solidFill>
                <a:latin typeface="Times New Roman" panose="02020603050405020304"/>
              </a:rPr>
              <a:t>16</a:t>
            </a:fld>
            <a:endParaRPr lang="ru-RU" altLang="en-US" sz="2000" b="0" strike="noStrike" spc="-1">
              <a:solidFill>
                <a:schemeClr val="bg1"/>
              </a:solidFill>
              <a:latin typeface="Times New Roman" panose="02020603050405020304"/>
            </a:endParaRPr>
          </a:p>
        </p:txBody>
      </p:sp>
      <p:sp>
        <p:nvSpPr>
          <p:cNvPr id="5" name="Управляющая кнопка: домашняя 4">
            <a:hlinkClick r:id="rId3" action="ppaction://hlinksldjump"/>
          </p:cNvPr>
          <p:cNvSpPr/>
          <p:nvPr/>
        </p:nvSpPr>
        <p:spPr>
          <a:xfrm>
            <a:off x="5768340" y="5691505"/>
            <a:ext cx="1178560" cy="628015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/>
          </a:p>
        </p:txBody>
      </p:sp>
      <p:sp>
        <p:nvSpPr>
          <p:cNvPr id="6" name="Управляющая кнопка: далее 5">
            <a:hlinkClick r:id="" action="ppaction://hlinkshowjump?jump=nextslide"/>
          </p:cNvPr>
          <p:cNvSpPr/>
          <p:nvPr/>
        </p:nvSpPr>
        <p:spPr>
          <a:xfrm>
            <a:off x="7365365" y="5691505"/>
            <a:ext cx="1178560" cy="628015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/>
          </a:p>
        </p:txBody>
      </p:sp>
      <p:sp>
        <p:nvSpPr>
          <p:cNvPr id="7" name="Управляющая кнопка: назад 6">
            <a:hlinkClick r:id="" action="ppaction://hlinkshowjump?jump=previousslide"/>
          </p:cNvPr>
          <p:cNvSpPr/>
          <p:nvPr/>
        </p:nvSpPr>
        <p:spPr>
          <a:xfrm>
            <a:off x="4195445" y="5691505"/>
            <a:ext cx="1178560" cy="628015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/>
          </a:p>
        </p:txBody>
      </p:sp>
      <p:sp>
        <p:nvSpPr>
          <p:cNvPr id="3" name="Текстовое поле 2"/>
          <p:cNvSpPr txBox="1"/>
          <p:nvPr/>
        </p:nvSpPr>
        <p:spPr>
          <a:xfrm>
            <a:off x="523240" y="897890"/>
            <a:ext cx="1166876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endParaRPr lang="ru-RU" altLang="en-US" sz="2800"/>
          </a:p>
        </p:txBody>
      </p:sp>
      <p:sp>
        <p:nvSpPr>
          <p:cNvPr id="11" name="Текстовое поле 3"/>
          <p:cNvSpPr txBox="1"/>
          <p:nvPr/>
        </p:nvSpPr>
        <p:spPr>
          <a:xfrm>
            <a:off x="523875" y="898525"/>
            <a:ext cx="11669395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ru-RU" sz="3200" b="1" dirty="0" smtClean="0"/>
              <a:t>Результаты исследования</a:t>
            </a:r>
            <a:endParaRPr sz="3200" b="1" dirty="0">
              <a:sym typeface="+mn-ea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0" y="1925479"/>
            <a:ext cx="12192000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ru-RU" sz="2800" b="1" dirty="0"/>
              <a:t>Дистилляция как </a:t>
            </a:r>
            <a:r>
              <a:rPr lang="ru-RU" sz="2800" b="1" dirty="0" err="1"/>
              <a:t>регуляризатор</a:t>
            </a:r>
            <a:r>
              <a:rPr lang="ru-RU" sz="2800" b="1" dirty="0"/>
              <a:t>:</a:t>
            </a:r>
            <a:endParaRPr lang="ru-RU" sz="2800" dirty="0"/>
          </a:p>
          <a:p>
            <a:pPr lvl="1"/>
            <a:r>
              <a:rPr lang="ru-RU" sz="2800" dirty="0" smtClean="0"/>
              <a:t>	</a:t>
            </a:r>
            <a:r>
              <a:rPr lang="ru-RU" sz="2400" dirty="0" smtClean="0"/>
              <a:t>Помогает </a:t>
            </a:r>
            <a:r>
              <a:rPr lang="ru-RU" sz="2400" dirty="0"/>
              <a:t>находить более робастные минимумы функции потерь.</a:t>
            </a:r>
          </a:p>
          <a:p>
            <a:pPr lvl="1"/>
            <a:r>
              <a:rPr lang="ru-RU" sz="2400" dirty="0" smtClean="0"/>
              <a:t>	Улучшает </a:t>
            </a:r>
            <a:r>
              <a:rPr lang="ru-RU" sz="2400" dirty="0"/>
              <a:t>калибровку уверенности модели.</a:t>
            </a:r>
          </a:p>
          <a:p>
            <a:pPr lvl="1"/>
            <a:r>
              <a:rPr lang="ru-RU" sz="2400" dirty="0" smtClean="0"/>
              <a:t>	Формирует </a:t>
            </a:r>
            <a:r>
              <a:rPr lang="ru-RU" sz="2400" dirty="0"/>
              <a:t>более структурированные внутренние представления.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ru-RU" sz="2800" b="1" dirty="0"/>
              <a:t>Высокая практическая ценность:</a:t>
            </a:r>
            <a:endParaRPr lang="ru-RU" sz="2800" dirty="0"/>
          </a:p>
          <a:p>
            <a:pPr lvl="1"/>
            <a:r>
              <a:rPr lang="ru-RU" sz="2800" b="1" dirty="0" smtClean="0"/>
              <a:t>	</a:t>
            </a:r>
            <a:r>
              <a:rPr lang="ru-RU" sz="2400" b="1" dirty="0" smtClean="0"/>
              <a:t>Демократизация </a:t>
            </a:r>
            <a:r>
              <a:rPr lang="ru-RU" sz="2400" b="1" dirty="0"/>
              <a:t>технологий:</a:t>
            </a:r>
            <a:r>
              <a:rPr lang="ru-RU" sz="2400" dirty="0"/>
              <a:t> Модели типа </a:t>
            </a:r>
            <a:r>
              <a:rPr lang="ru-RU" sz="2400" dirty="0" err="1"/>
              <a:t>DistilBERT</a:t>
            </a:r>
            <a:r>
              <a:rPr lang="ru-RU" sz="2400" dirty="0"/>
              <a:t> и </a:t>
            </a:r>
            <a:r>
              <a:rPr lang="ru-RU" sz="2400" dirty="0" err="1"/>
              <a:t>DeiT</a:t>
            </a:r>
            <a:r>
              <a:rPr lang="ru-RU" sz="2400" dirty="0"/>
              <a:t> делают передовой ИИ доступным.</a:t>
            </a:r>
          </a:p>
          <a:p>
            <a:pPr lvl="1"/>
            <a:r>
              <a:rPr lang="ru-RU" sz="2400" dirty="0" smtClean="0"/>
              <a:t>	Снижение </a:t>
            </a:r>
            <a:r>
              <a:rPr lang="ru-RU" sz="2400" dirty="0"/>
              <a:t>барьеров для исследований и разработок.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>
            <a:spLocks noGrp="1"/>
          </p:cNvSpPr>
          <p:nvPr>
            <p:ph type="title"/>
          </p:nvPr>
        </p:nvSpPr>
        <p:spPr>
          <a:xfrm>
            <a:off x="3518611" y="176988"/>
            <a:ext cx="8612087" cy="5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lnSpc>
                <a:spcPct val="100000"/>
              </a:lnSpc>
              <a:buClr>
                <a:schemeClr val="dk1"/>
              </a:buClr>
              <a:buSzPct val="58000"/>
            </a:pPr>
            <a:r>
              <a:rPr lang="ru-RU" sz="1500" dirty="0">
                <a:sym typeface="+mn-ea"/>
              </a:rPr>
              <a:t>СОВРЕМЕННЫЕ ИНФОРМАЦИОННЫЕ ТЕХНОЛОГИИ ДИСТИЛЛЯЦИИ ЗНАНИЙ НЕЙРОННЫХ СЕТЕЙ ДЛЯ ПОВЫШЕНИЯ ИХ ЭФФЕКТИВНОСТИ И ПРОИЗВОДИТЕЛЬНОСТИ</a:t>
            </a:r>
            <a:endParaRPr lang="ru-RU" sz="1500" b="1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430325" y="6006000"/>
            <a:ext cx="3608100" cy="8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Бекетов Д. Д. роект 2023</a:t>
            </a:r>
            <a:endParaRPr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523125" y="6456550"/>
            <a:ext cx="3608100" cy="8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dirty="0" smtClean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Карпенко Д.С. </a:t>
            </a:r>
            <a:r>
              <a:rPr lang="ru-RU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Реферат 202</a:t>
            </a:r>
            <a:r>
              <a:rPr lang="en-US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5</a:t>
            </a:r>
            <a:endParaRPr dirty="0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" name="Текстовое поле 1"/>
          <p:cNvSpPr txBox="1"/>
          <p:nvPr/>
        </p:nvSpPr>
        <p:spPr>
          <a:xfrm>
            <a:off x="4385340" y="6483770"/>
            <a:ext cx="3889144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fld id="{7D70D24E-22A2-4EF2-89C4-76EE51D78FF1}" type="slidenum">
              <a:rPr lang="ru-RU" sz="2000" b="0" strike="noStrike" spc="-1">
                <a:solidFill>
                  <a:schemeClr val="bg1"/>
                </a:solidFill>
                <a:latin typeface="Times New Roman" panose="02020603050405020304"/>
              </a:rPr>
              <a:t>17</a:t>
            </a:fld>
            <a:endParaRPr lang="ru-RU" altLang="en-US" sz="2000" b="0" strike="noStrike" spc="-1">
              <a:solidFill>
                <a:schemeClr val="bg1"/>
              </a:solidFill>
              <a:latin typeface="Times New Roman" panose="02020603050405020304"/>
            </a:endParaRPr>
          </a:p>
        </p:txBody>
      </p:sp>
      <p:sp>
        <p:nvSpPr>
          <p:cNvPr id="5" name="Управляющая кнопка: домашняя 4">
            <a:hlinkClick r:id="rId3" action="ppaction://hlinksldjump"/>
          </p:cNvPr>
          <p:cNvSpPr/>
          <p:nvPr/>
        </p:nvSpPr>
        <p:spPr>
          <a:xfrm>
            <a:off x="5768340" y="5691505"/>
            <a:ext cx="1178560" cy="628015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/>
          </a:p>
        </p:txBody>
      </p:sp>
      <p:sp>
        <p:nvSpPr>
          <p:cNvPr id="6" name="Управляющая кнопка: далее 5">
            <a:hlinkClick r:id="" action="ppaction://hlinkshowjump?jump=nextslide"/>
          </p:cNvPr>
          <p:cNvSpPr/>
          <p:nvPr/>
        </p:nvSpPr>
        <p:spPr>
          <a:xfrm>
            <a:off x="7365365" y="5691505"/>
            <a:ext cx="1178560" cy="628015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/>
          </a:p>
        </p:txBody>
      </p:sp>
      <p:sp>
        <p:nvSpPr>
          <p:cNvPr id="7" name="Управляющая кнопка: назад 6">
            <a:hlinkClick r:id="" action="ppaction://hlinkshowjump?jump=previousslide"/>
          </p:cNvPr>
          <p:cNvSpPr/>
          <p:nvPr/>
        </p:nvSpPr>
        <p:spPr>
          <a:xfrm>
            <a:off x="4195445" y="5691505"/>
            <a:ext cx="1178560" cy="628015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/>
          </a:p>
        </p:txBody>
      </p:sp>
      <p:sp>
        <p:nvSpPr>
          <p:cNvPr id="3" name="Текстовое поле 2"/>
          <p:cNvSpPr txBox="1"/>
          <p:nvPr/>
        </p:nvSpPr>
        <p:spPr>
          <a:xfrm>
            <a:off x="523240" y="897890"/>
            <a:ext cx="1166876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endParaRPr lang="ru-RU" altLang="en-US" sz="2800"/>
          </a:p>
        </p:txBody>
      </p:sp>
      <p:sp>
        <p:nvSpPr>
          <p:cNvPr id="11" name="Текстовое поле 3"/>
          <p:cNvSpPr txBox="1"/>
          <p:nvPr/>
        </p:nvSpPr>
        <p:spPr>
          <a:xfrm>
            <a:off x="522605" y="862793"/>
            <a:ext cx="11669395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ru-RU" sz="3200" b="1" dirty="0" smtClean="0"/>
              <a:t>Заключение и выводы</a:t>
            </a:r>
            <a:endParaRPr sz="3200" b="1" dirty="0">
              <a:sym typeface="+mn-e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1062" y="1578639"/>
            <a:ext cx="1209963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ru-RU" sz="2400" b="1" dirty="0"/>
              <a:t>Эволюция:</a:t>
            </a:r>
            <a:r>
              <a:rPr lang="ru-RU" sz="2400" dirty="0"/>
              <a:t> </a:t>
            </a:r>
            <a:endParaRPr lang="ru-RU" sz="2400" dirty="0" smtClean="0"/>
          </a:p>
          <a:p>
            <a:pPr lvl="0"/>
            <a:r>
              <a:rPr lang="ru-RU" sz="2000" dirty="0" smtClean="0"/>
              <a:t>	Произошел </a:t>
            </a:r>
            <a:r>
              <a:rPr lang="ru-RU" sz="2000" dirty="0"/>
              <a:t>качественный переход от передачи выходных данных к передаче внутренних процессов и архитектурных свойств.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ru-RU" sz="2400" b="1" dirty="0"/>
              <a:t>Смена парадигмы:</a:t>
            </a:r>
            <a:r>
              <a:rPr lang="ru-RU" sz="2400" dirty="0"/>
              <a:t> </a:t>
            </a:r>
            <a:endParaRPr lang="ru-RU" sz="2400" dirty="0" smtClean="0"/>
          </a:p>
          <a:p>
            <a:pPr lvl="0"/>
            <a:r>
              <a:rPr lang="ru-RU" sz="2000" dirty="0" smtClean="0"/>
              <a:t>	Классическая </a:t>
            </a:r>
            <a:r>
              <a:rPr lang="ru-RU" sz="2000" dirty="0"/>
              <a:t>схема «учитель-ученик» дополнена симметричным коллективным обучением (DML) и кросс-архитектурной дистилляцией.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ru-RU" sz="2400" b="1" dirty="0"/>
              <a:t>Регуляризация:</a:t>
            </a:r>
            <a:r>
              <a:rPr lang="ru-RU" sz="2400" dirty="0"/>
              <a:t> </a:t>
            </a:r>
            <a:endParaRPr lang="ru-RU" sz="2400" dirty="0"/>
          </a:p>
          <a:p>
            <a:pPr lvl="0"/>
            <a:r>
              <a:rPr lang="ru-RU" sz="2000" dirty="0" smtClean="0"/>
              <a:t>	Дистилляция </a:t>
            </a:r>
            <a:r>
              <a:rPr lang="ru-RU" sz="2000" dirty="0"/>
              <a:t>доказала свою эффективность не только для сжатия, но и для улучшения обобщающей способности моделей.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2400" b="1" dirty="0"/>
              <a:t>Практическая значимость:</a:t>
            </a:r>
            <a:r>
              <a:rPr lang="ru-RU" sz="2400" dirty="0"/>
              <a:t> </a:t>
            </a:r>
            <a:endParaRPr lang="ru-RU" sz="2400" dirty="0" smtClean="0"/>
          </a:p>
          <a:p>
            <a:r>
              <a:rPr lang="ru-RU" sz="2400" dirty="0"/>
              <a:t>	</a:t>
            </a:r>
            <a:r>
              <a:rPr lang="ru-RU" sz="2000" dirty="0" smtClean="0"/>
              <a:t>Технологии </a:t>
            </a:r>
            <a:r>
              <a:rPr lang="ru-RU" sz="2000" dirty="0"/>
              <a:t>дистилляции являются ключом к созданию эффективного и доступного ИИ для массового применения</a:t>
            </a:r>
            <a:endParaRPr lang="ru-RU" sz="2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>
            <a:spLocks noGrp="1"/>
          </p:cNvSpPr>
          <p:nvPr>
            <p:ph type="title"/>
          </p:nvPr>
        </p:nvSpPr>
        <p:spPr>
          <a:xfrm>
            <a:off x="3518611" y="176988"/>
            <a:ext cx="8612087" cy="5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lnSpc>
                <a:spcPct val="100000"/>
              </a:lnSpc>
              <a:buClr>
                <a:schemeClr val="dk1"/>
              </a:buClr>
              <a:buSzPct val="58000"/>
            </a:pPr>
            <a:r>
              <a:rPr lang="ru-RU" sz="1500" dirty="0">
                <a:sym typeface="+mn-ea"/>
              </a:rPr>
              <a:t>СОВРЕМЕННЫЕ ИНФОРМАЦИОННЫЕ ТЕХНОЛОГИИ ДИСТИЛЛЯЦИИ ЗНАНИЙ НЕЙРОННЫХ СЕТЕЙ ДЛЯ ПОВЫШЕНИЯ ИХ ЭФФЕКТИВНОСТИ И ПРОИЗВОДИТЕЛЬНОСТИ</a:t>
            </a:r>
            <a:endParaRPr lang="ru-RU" sz="1500" b="1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523125" y="6456550"/>
            <a:ext cx="3608100" cy="8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dirty="0" smtClean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Карпенко Д.С. </a:t>
            </a:r>
            <a:r>
              <a:rPr lang="ru-RU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Реферат 202</a:t>
            </a:r>
            <a:r>
              <a:rPr lang="en-US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5</a:t>
            </a:r>
            <a:endParaRPr dirty="0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" name="Текстовое поле 1"/>
          <p:cNvSpPr txBox="1"/>
          <p:nvPr/>
        </p:nvSpPr>
        <p:spPr>
          <a:xfrm>
            <a:off x="4385340" y="6483770"/>
            <a:ext cx="3889144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fld id="{7D70D24E-22A2-4EF2-89C4-76EE51D78FF1}" type="slidenum">
              <a:rPr lang="ru-RU" sz="2000" b="0" strike="noStrike" spc="-1">
                <a:solidFill>
                  <a:schemeClr val="bg1"/>
                </a:solidFill>
                <a:latin typeface="Times New Roman" panose="02020603050405020304"/>
              </a:rPr>
              <a:t>18</a:t>
            </a:fld>
            <a:endParaRPr lang="ru-RU" altLang="en-US" sz="2000" b="0" strike="noStrike" spc="-1">
              <a:solidFill>
                <a:schemeClr val="bg1"/>
              </a:solidFill>
              <a:latin typeface="Times New Roman" panose="02020603050405020304"/>
            </a:endParaRPr>
          </a:p>
        </p:txBody>
      </p:sp>
      <p:sp>
        <p:nvSpPr>
          <p:cNvPr id="5" name="Управляющая кнопка: домашняя 4">
            <a:hlinkClick r:id="rId3" action="ppaction://hlinksldjump"/>
          </p:cNvPr>
          <p:cNvSpPr/>
          <p:nvPr/>
        </p:nvSpPr>
        <p:spPr>
          <a:xfrm>
            <a:off x="5768340" y="5691505"/>
            <a:ext cx="1178560" cy="628015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/>
          </a:p>
        </p:txBody>
      </p:sp>
      <p:sp>
        <p:nvSpPr>
          <p:cNvPr id="6" name="Управляющая кнопка: далее 5">
            <a:hlinkClick r:id="" action="ppaction://hlinkshowjump?jump=nextslide"/>
          </p:cNvPr>
          <p:cNvSpPr/>
          <p:nvPr/>
        </p:nvSpPr>
        <p:spPr>
          <a:xfrm>
            <a:off x="7365365" y="5691505"/>
            <a:ext cx="1178560" cy="628015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/>
          </a:p>
        </p:txBody>
      </p:sp>
      <p:sp>
        <p:nvSpPr>
          <p:cNvPr id="7" name="Управляющая кнопка: назад 6">
            <a:hlinkClick r:id="" action="ppaction://hlinkshowjump?jump=previousslide"/>
          </p:cNvPr>
          <p:cNvSpPr/>
          <p:nvPr/>
        </p:nvSpPr>
        <p:spPr>
          <a:xfrm>
            <a:off x="4195445" y="5691505"/>
            <a:ext cx="1178560" cy="628015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/>
          </a:p>
        </p:txBody>
      </p:sp>
      <p:sp>
        <p:nvSpPr>
          <p:cNvPr id="3" name="Текстовое поле 2"/>
          <p:cNvSpPr txBox="1"/>
          <p:nvPr/>
        </p:nvSpPr>
        <p:spPr>
          <a:xfrm>
            <a:off x="523240" y="897890"/>
            <a:ext cx="1166876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endParaRPr lang="ru-RU" altLang="en-US" sz="2800"/>
          </a:p>
        </p:txBody>
      </p:sp>
      <p:sp>
        <p:nvSpPr>
          <p:cNvPr id="11" name="Текстовое поле 3"/>
          <p:cNvSpPr txBox="1"/>
          <p:nvPr/>
        </p:nvSpPr>
        <p:spPr>
          <a:xfrm>
            <a:off x="522605" y="907667"/>
            <a:ext cx="11669395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ru-RU" sz="3200" b="1" dirty="0"/>
              <a:t>Перспективы дальнейших исследований</a:t>
            </a:r>
            <a:endParaRPr sz="3200" b="1" dirty="0">
              <a:sym typeface="+mn-ea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1062" y="1680637"/>
            <a:ext cx="1209963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ru-RU" sz="2800" b="1" dirty="0"/>
              <a:t>Для гибридных архитектур:</a:t>
            </a:r>
            <a:r>
              <a:rPr lang="ru-RU" sz="2800" dirty="0"/>
              <a:t> </a:t>
            </a:r>
            <a:endParaRPr lang="ru-RU" sz="2800" dirty="0" smtClean="0"/>
          </a:p>
          <a:p>
            <a:pPr lvl="0"/>
            <a:r>
              <a:rPr lang="ru-RU" sz="2800" dirty="0"/>
              <a:t>	</a:t>
            </a:r>
            <a:r>
              <a:rPr lang="ru-RU" sz="2400" dirty="0" smtClean="0"/>
              <a:t>Разработка </a:t>
            </a:r>
            <a:r>
              <a:rPr lang="ru-RU" sz="2400" dirty="0"/>
              <a:t>методов дистилляции для моделей, сочетающих CNN и </a:t>
            </a:r>
            <a:r>
              <a:rPr lang="ru-RU" sz="2400" dirty="0" err="1"/>
              <a:t>трансформеры</a:t>
            </a:r>
            <a:r>
              <a:rPr lang="ru-RU" sz="2400" dirty="0"/>
              <a:t> (например, </a:t>
            </a:r>
            <a:r>
              <a:rPr lang="ru-RU" sz="2400" dirty="0" err="1"/>
              <a:t>LeViT</a:t>
            </a:r>
            <a:r>
              <a:rPr lang="ru-RU" sz="2400" dirty="0"/>
              <a:t>).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ru-RU" sz="2800" b="1" dirty="0"/>
              <a:t>Автоматизация:</a:t>
            </a:r>
            <a:r>
              <a:rPr lang="ru-RU" sz="2800" dirty="0"/>
              <a:t> </a:t>
            </a:r>
            <a:endParaRPr lang="ru-RU" sz="2800" dirty="0" smtClean="0"/>
          </a:p>
          <a:p>
            <a:pPr lvl="0"/>
            <a:r>
              <a:rPr lang="ru-RU" sz="2800" dirty="0"/>
              <a:t>	</a:t>
            </a:r>
            <a:r>
              <a:rPr lang="ru-RU" sz="2400" dirty="0" smtClean="0"/>
              <a:t>Создание </a:t>
            </a:r>
            <a:r>
              <a:rPr lang="ru-RU" sz="2400" dirty="0"/>
              <a:t>алгоритмов для автоматического подбора оптимальной пары «учитель-ученик» и метода дистилляции.</a:t>
            </a:r>
          </a:p>
          <a:p>
            <a:pPr marL="457200" lvl="0" indent="-457200">
              <a:buFont typeface="Arial" panose="020B0604020202020204" pitchFamily="34" charset="0"/>
              <a:buChar char="•"/>
            </a:pPr>
            <a:r>
              <a:rPr lang="ru-RU" sz="2800" b="1" dirty="0"/>
              <a:t>Новые области:</a:t>
            </a:r>
            <a:r>
              <a:rPr lang="ru-RU" sz="2800" dirty="0"/>
              <a:t> </a:t>
            </a:r>
            <a:endParaRPr lang="ru-RU" sz="2800" dirty="0" smtClean="0"/>
          </a:p>
          <a:p>
            <a:pPr lvl="0"/>
            <a:r>
              <a:rPr lang="ru-RU" sz="2800" dirty="0"/>
              <a:t>	</a:t>
            </a:r>
            <a:r>
              <a:rPr lang="ru-RU" sz="2400" dirty="0" smtClean="0"/>
              <a:t>Применение </a:t>
            </a:r>
            <a:r>
              <a:rPr lang="ru-RU" sz="2400" dirty="0"/>
              <a:t>дистилляции в </a:t>
            </a:r>
            <a:r>
              <a:rPr lang="ru-RU" sz="2400" dirty="0" err="1"/>
              <a:t>мультимодальном</a:t>
            </a:r>
            <a:r>
              <a:rPr lang="ru-RU" sz="2400" dirty="0"/>
              <a:t> обучении и обучении с подкреплением.</a:t>
            </a:r>
          </a:p>
        </p:txBody>
      </p:sp>
    </p:spTree>
    <p:extLst>
      <p:ext uri="{BB962C8B-B14F-4D97-AF65-F5344CB8AC3E}">
        <p14:creationId xmlns:p14="http://schemas.microsoft.com/office/powerpoint/2010/main" val="3949059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>
            <a:spLocks noGrp="1"/>
          </p:cNvSpPr>
          <p:nvPr>
            <p:ph type="title"/>
          </p:nvPr>
        </p:nvSpPr>
        <p:spPr>
          <a:xfrm>
            <a:off x="3518611" y="176988"/>
            <a:ext cx="8612087" cy="51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l">
              <a:lnSpc>
                <a:spcPct val="100000"/>
              </a:lnSpc>
              <a:buClr>
                <a:schemeClr val="dk1"/>
              </a:buClr>
              <a:buSzPct val="58000"/>
            </a:pPr>
            <a:r>
              <a:rPr lang="ru-RU" sz="1500" dirty="0">
                <a:sym typeface="+mn-ea"/>
              </a:rPr>
              <a:t>СОВРЕМЕННЫЕ ИНФОРМАЦИОННЫЕ ТЕХНОЛОГИИ ДИСТИЛЛЯЦИИ ЗНАНИЙ НЕЙРОННЫХ СЕТЕЙ ДЛЯ ПОВЫШЕНИЯ ИХ ЭФФЕКТИВНОСТИ И ПРОИЗВОДИТЕЛЬНОСТИ</a:t>
            </a:r>
            <a:endParaRPr lang="ru-RU" sz="1500" b="1" dirty="0"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430325" y="6006000"/>
            <a:ext cx="3608100" cy="8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Бекетов Д. Д. роект 2023</a:t>
            </a:r>
            <a:endParaRPr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523125" y="6456550"/>
            <a:ext cx="3608100" cy="85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dirty="0" smtClean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Карпенко Д.С. </a:t>
            </a:r>
            <a:r>
              <a:rPr lang="ru-RU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Реферат 202</a:t>
            </a:r>
            <a:r>
              <a:rPr lang="en-US" dirty="0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5</a:t>
            </a:r>
            <a:endParaRPr dirty="0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" name="Текстовое поле 1"/>
          <p:cNvSpPr txBox="1"/>
          <p:nvPr/>
        </p:nvSpPr>
        <p:spPr>
          <a:xfrm>
            <a:off x="4366867" y="6483770"/>
            <a:ext cx="392609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fld id="{7D70D24E-22A2-4EF2-89C4-76EE51D78FF1}" type="slidenum">
              <a:rPr lang="ru-RU" sz="2000" b="0" strike="noStrike" spc="-1">
                <a:solidFill>
                  <a:schemeClr val="bg1"/>
                </a:solidFill>
                <a:latin typeface="Times New Roman" panose="02020603050405020304"/>
              </a:rPr>
              <a:t>19</a:t>
            </a:fld>
            <a:endParaRPr lang="ru-RU" altLang="en-US" sz="2000" b="0" strike="noStrike" spc="-1">
              <a:solidFill>
                <a:schemeClr val="bg1"/>
              </a:solidFill>
              <a:latin typeface="Times New Roman" panose="02020603050405020304"/>
            </a:endParaRPr>
          </a:p>
        </p:txBody>
      </p:sp>
      <p:sp>
        <p:nvSpPr>
          <p:cNvPr id="5" name="Управляющая кнопка: домашняя 4">
            <a:hlinkClick r:id="rId3" action="ppaction://hlinksldjump"/>
          </p:cNvPr>
          <p:cNvSpPr/>
          <p:nvPr/>
        </p:nvSpPr>
        <p:spPr>
          <a:xfrm>
            <a:off x="5768340" y="5691505"/>
            <a:ext cx="1178560" cy="628015"/>
          </a:xfrm>
          <a:prstGeom prst="actionButtonHom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/>
          </a:p>
        </p:txBody>
      </p:sp>
      <p:sp>
        <p:nvSpPr>
          <p:cNvPr id="6" name="Управляющая кнопка: далее 5">
            <a:hlinkClick r:id="" action="ppaction://hlinkshowjump?jump=nextslide"/>
          </p:cNvPr>
          <p:cNvSpPr/>
          <p:nvPr/>
        </p:nvSpPr>
        <p:spPr>
          <a:xfrm>
            <a:off x="7365365" y="5691505"/>
            <a:ext cx="1178560" cy="628015"/>
          </a:xfrm>
          <a:prstGeom prst="actionButtonForwardNex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/>
          </a:p>
        </p:txBody>
      </p:sp>
      <p:sp>
        <p:nvSpPr>
          <p:cNvPr id="7" name="Управляющая кнопка: назад 6">
            <a:hlinkClick r:id="" action="ppaction://hlinkshowjump?jump=previousslide"/>
          </p:cNvPr>
          <p:cNvSpPr/>
          <p:nvPr/>
        </p:nvSpPr>
        <p:spPr>
          <a:xfrm>
            <a:off x="4195445" y="5691505"/>
            <a:ext cx="1178560" cy="628015"/>
          </a:xfrm>
          <a:prstGeom prst="actionButtonBackPreviou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altLang="en-US"/>
          </a:p>
        </p:txBody>
      </p:sp>
      <p:sp>
        <p:nvSpPr>
          <p:cNvPr id="3" name="Текстовое поле 2"/>
          <p:cNvSpPr txBox="1"/>
          <p:nvPr/>
        </p:nvSpPr>
        <p:spPr>
          <a:xfrm>
            <a:off x="523240" y="897890"/>
            <a:ext cx="1166876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endParaRPr lang="ru-RU" altLang="en-US" sz="2800"/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523240" y="2975610"/>
            <a:ext cx="1166876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ru-RU" altLang="en-US" sz="3000"/>
              <a:t>СПАСИБО ЗА ВНИМАНИЕ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192</TotalTime>
  <Words>861</Words>
  <Application>Microsoft Office PowerPoint</Application>
  <PresentationFormat>Широкоэкранный</PresentationFormat>
  <Paragraphs>229</Paragraphs>
  <Slides>19</Slides>
  <Notes>19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5" baseType="lpstr">
      <vt:lpstr>Arial</vt:lpstr>
      <vt:lpstr>Calibri</vt:lpstr>
      <vt:lpstr>Courier New</vt:lpstr>
      <vt:lpstr>Segoe UI Light</vt:lpstr>
      <vt:lpstr>Times New Roman</vt:lpstr>
      <vt:lpstr>Тема Office</vt:lpstr>
      <vt:lpstr>СОВРЕМЕННЫЕ ИНФОРМАЦИОННЫЕ ТЕХНОЛОГИИ ДИСТИЛЛЯЦИИ ЗНАНИЙ НЕЙРОННЫХ СЕТЕЙ ДЛЯ ПОВЫШЕНИЯ ИХ ЭФФЕКТИВНОСТИ И ПРОИЗВОДИТЕЛЬНОСТИ</vt:lpstr>
      <vt:lpstr>СОВРЕМЕННЫЕ ИНФОРМАЦИОННЫЕ ТЕХНОЛОГИИ ДИСТИЛЛЯЦИИ ЗНАНИЙ НЕЙРОННЫХ СЕТЕЙ ДЛЯ ПОВЫШЕНИЯ ИХ ЭФФЕКТИВНОСТИ И ПРОИЗВОДИТЕЛЬНОСТИ</vt:lpstr>
      <vt:lpstr>СОВРЕМЕННЫЕ ИНФОРМАЦИОННЫЕ ТЕХНОЛОГИИ ДИСТИЛЛЯЦИИ ЗНАНИЙ НЕЙРОННЫХ СЕТЕЙ ДЛЯ ПОВЫШЕНИЯ ИХ ЭФФЕКТИВНОСТИ И ПРОИЗВОДИТЕЛЬНОСТИ</vt:lpstr>
      <vt:lpstr>СОВРЕМЕННЫЕ ИНФОРМАЦИОННЫЕ ТЕХНОЛОГИИ ДИСТИЛЛЯЦИИ ЗНАНИЙ НЕЙРОННЫХ СЕТЕЙ ДЛЯ ПОВЫШЕНИЯ ИХ ЭФФЕКТИВНОСТИ И ПРОИЗВОДИТЕЛЬНОСТИ</vt:lpstr>
      <vt:lpstr>СОВРЕМЕННЫЕ ИНФОРМАЦИОННЫЕ ТЕХНОЛОГИИ ДИСТИЛЛЯЦИИ ЗНАНИЙ НЕЙРОННЫХ СЕТЕЙ ДЛЯ ПОВЫШЕНИЯ ИХ ЭФФЕКТИВНОСТИ И ПРОИЗВОДИТЕЛЬНОСТИ</vt:lpstr>
      <vt:lpstr>СОВРЕМЕННЫЕ ИНФОРМАЦИОННЫЕ ТЕХНОЛОГИИ ДИСТИЛЛЯЦИИ ЗНАНИЙ НЕЙРОННЫХ СЕТЕЙ ДЛЯ ПОВЫШЕНИЯ ИХ ЭФФЕКТИВНОСТИ И ПРОИЗВОДИТЕЛЬНОСТИ</vt:lpstr>
      <vt:lpstr>СОВРЕМЕННЫЕ ИНФОРМАЦИОННЫЕ ТЕХНОЛОГИИ ДИСТИЛЛЯЦИИ ЗНАНИЙ НЕЙРОННЫХ СЕТЕЙ ДЛЯ ПОВЫШЕНИЯ ИХ ЭФФЕКТИВНОСТИ И ПРОИЗВОДИТЕЛЬНОСТИ</vt:lpstr>
      <vt:lpstr>СОВРЕМЕННЫЕ ИНФОРМАЦИОННЫЕ ТЕХНОЛОГИИ ДИСТИЛЛЯЦИИ ЗНАНИЙ НЕЙРОННЫХ СЕТЕЙ ДЛЯ ПОВЫШЕНИЯ ИХ ЭФФЕКТИВНОСТИ И ПРОИЗВОДИТЕЛЬНОСТИ</vt:lpstr>
      <vt:lpstr>СОВРЕМЕННЫЕ ИНФОРМАЦИОННЫЕ ТЕХНОЛОГИИ ДИСТИЛЛЯЦИИ ЗНАНИЙ НЕЙРОННЫХ СЕТЕЙ ДЛЯ ПОВЫШЕНИЯ ИХ ЭФФЕКТИВНОСТИ И ПРОИЗВОДИТЕЛЬНОСТИ</vt:lpstr>
      <vt:lpstr>СОВРЕМЕННЫЕ ИНФОРМАЦИОННЫЕ ТЕХНОЛОГИИ ДИСТИЛЛЯЦИИ ЗНАНИЙ НЕЙРОННЫХ СЕТЕЙ ДЛЯ ПОВЫШЕНИЯ ИХ ЭФФЕКТИВНОСТИ И ПРОИЗВОДИТЕЛЬНОСТИ</vt:lpstr>
      <vt:lpstr>СОВРЕМЕННЫЕ ИНФОРМАЦИОННЫЕ ТЕХНОЛОГИИ ДИСТИЛЛЯЦИИ ЗНАНИЙ НЕЙРОННЫХ СЕТЕЙ ДЛЯ ПОВЫШЕНИЯ ИХ ЭФФЕКТИВНОСТИ И ПРОИЗВОДИТЕЛЬНОСТИ</vt:lpstr>
      <vt:lpstr>СОВРЕМЕННЫЕ ИНФОРМАЦИОННЫЕ ТЕХНОЛОГИИ ДИСТИЛЛЯЦИИ ЗНАНИЙ НЕЙРОННЫХ СЕТЕЙ ДЛЯ ПОВЫШЕНИЯ ИХ ЭФФЕКТИВНОСТИ И ПРОИЗВОДИТЕЛЬНОСТИ</vt:lpstr>
      <vt:lpstr>СОВРЕМЕННЫЕ ИНФОРМАЦИОННЫЕ ТЕХНОЛОГИИ ДИСТИЛЛЯЦИИ ЗНАНИЙ НЕЙРОННЫХ СЕТЕЙ ДЛЯ ПОВЫШЕНИЯ ИХ ЭФФЕКТИВНОСТИ И ПРОИЗВОДИТЕЛЬНОСТИ</vt:lpstr>
      <vt:lpstr>СОВРЕМЕННЫЕ ИНФОРМАЦИОННЫЕ ТЕХНОЛОГИИ ДИСТИЛЛЯЦИИ ЗНАНИЙ НЕЙРОННЫХ СЕТЕЙ ДЛЯ ПОВЫШЕНИЯ ИХ ЭФФЕКТИВНОСТИ И ПРОИЗВОДИТЕЛЬНОСТИ</vt:lpstr>
      <vt:lpstr>СОВРЕМЕННЫЕ ИНФОРМАЦИОННЫЕ ТЕХНОЛОГИИ ДИСТИЛЛЯЦИИ ЗНАНИЙ НЕЙРОННЫХ СЕТЕЙ ДЛЯ ПОВЫШЕНИЯ ИХ ЭФФЕКТИВНОСТИ И ПРОИЗВОДИТЕЛЬНОСТИ</vt:lpstr>
      <vt:lpstr>СОВРЕМЕННЫЕ ИНФОРМАЦИОННЫЕ ТЕХНОЛОГИИ ДИСТИЛЛЯЦИИ ЗНАНИЙ НЕЙРОННЫХ СЕТЕЙ ДЛЯ ПОВЫШЕНИЯ ИХ ЭФФЕКТИВНОСТИ И ПРОИЗВОДИТЕЛЬНОСТИ</vt:lpstr>
      <vt:lpstr>СОВРЕМЕННЫЕ ИНФОРМАЦИОННЫЕ ТЕХНОЛОГИИ ДИСТИЛЛЯЦИИ ЗНАНИЙ НЕЙРОННЫХ СЕТЕЙ ДЛЯ ПОВЫШЕНИЯ ИХ ЭФФЕКТИВНОСТИ И ПРОИЗВОДИТЕЛЬНОСТИ</vt:lpstr>
      <vt:lpstr>СОВРЕМЕННЫЕ ИНФОРМАЦИОННЫЕ ТЕХНОЛОГИИ ДИСТИЛЛЯЦИИ ЗНАНИЙ НЕЙРОННЫХ СЕТЕЙ ДЛЯ ПОВЫШЕНИЯ ИХ ЭФФЕКТИВНОСТИ И ПРОИЗВОДИТЕЛЬНОСТИ</vt:lpstr>
      <vt:lpstr>СОВРЕМЕННЫЕ ИНФОРМАЦИОННЫЕ ТЕХНОЛОГИИ ДИСТИЛЛЯЦИИ ЗНАНИЙ НЕЙРОННЫХ СЕТЕЙ ДЛЯ ПОВЫШЕНИЯ ИХ ЭФФЕКТИВНОСТИ И ПРОИЗВОДИТЕЛЬНОСТИ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АЛГОРИТМЫ НАВИГАЦИИ И ДВИЖЕНИЯ МОБИЛЬНОГО РОБОТА В НЕИЗВЕСТНЫХ ЛАБИРИНТАХ</dc:title>
  <dc:creator>Dima</dc:creator>
  <cp:lastModifiedBy>dima</cp:lastModifiedBy>
  <cp:revision>88</cp:revision>
  <dcterms:created xsi:type="dcterms:W3CDTF">2025-11-20T19:33:41Z</dcterms:created>
  <dcterms:modified xsi:type="dcterms:W3CDTF">2025-11-28T11:53:15Z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1049-11.1.0.11723</vt:lpwstr>
  </property>
</Properties>
</file>